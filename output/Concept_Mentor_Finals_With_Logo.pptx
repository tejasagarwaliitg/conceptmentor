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a2429be65846b9" /><Relationship Type="http://schemas.openxmlformats.org/officeDocument/2006/relationships/extended-properties" Target="/docProps/app.xml" Id="Re7a1364ea7c74de5" /><Relationship Type="http://schemas.openxmlformats.org/officeDocument/2006/relationships/officeDocument" Target="/ppt/presentation.xml" Id="Rfdc5101b895041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fc35beaed8494d"/>
  </p:sldMasterIdLst>
  <p:notesMasterIdLst>
    <p:notesMasterId xmlns:r="http://schemas.openxmlformats.org/officeDocument/2006/relationships" r:id="Ra16cefa267f2489f"/>
  </p:notesMasterIdLst>
  <p:sldIdLst>
    <p:sldId xmlns:r="http://schemas.openxmlformats.org/officeDocument/2006/relationships" id="256" r:id="R13811f6d9ff2452a"/>
    <p:sldId xmlns:r="http://schemas.openxmlformats.org/officeDocument/2006/relationships" id="257" r:id="Rda162d46443f49a3"/>
    <p:sldId xmlns:r="http://schemas.openxmlformats.org/officeDocument/2006/relationships" id="258" r:id="Rc6fee9dc9d674b62"/>
    <p:sldId xmlns:r="http://schemas.openxmlformats.org/officeDocument/2006/relationships" id="259" r:id="Rbb75725c8d224b4c"/>
    <p:sldId xmlns:r="http://schemas.openxmlformats.org/officeDocument/2006/relationships" id="260" r:id="Rb6665506ecf4464b"/>
    <p:sldId xmlns:r="http://schemas.openxmlformats.org/officeDocument/2006/relationships" id="261" r:id="Reeae04c800b64484"/>
    <p:sldId xmlns:r="http://schemas.openxmlformats.org/officeDocument/2006/relationships" id="262" r:id="R9180c8ca14254dd7"/>
    <p:sldId xmlns:r="http://schemas.openxmlformats.org/officeDocument/2006/relationships" id="263" r:id="Rb50014db4c434e70"/>
    <p:sldId xmlns:r="http://schemas.openxmlformats.org/officeDocument/2006/relationships" id="264" r:id="R55a60f7eb6714ab0"/>
    <p:sldId xmlns:r="http://schemas.openxmlformats.org/officeDocument/2006/relationships" id="265" r:id="Rfd06d49f972a4688"/>
    <p:sldId xmlns:r="http://schemas.openxmlformats.org/officeDocument/2006/relationships" id="266" r:id="Ra291e3e415544392"/>
    <p:sldId xmlns:r="http://schemas.openxmlformats.org/officeDocument/2006/relationships" id="267" r:id="Rdb942f7969b34696"/>
    <p:sldId xmlns:r="http://schemas.openxmlformats.org/officeDocument/2006/relationships" id="268" r:id="R6459f2fb580f41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962ce10dff4a1a" /><Relationship Type="http://schemas.openxmlformats.org/officeDocument/2006/relationships/slideMaster" Target="/ppt/slideMasters/slideMaster1.xml" Id="Rdffc35beaed8494d" /><Relationship Type="http://schemas.openxmlformats.org/officeDocument/2006/relationships/notesMaster" Target="/ppt/notesMasters/notesMaster1.xml" Id="Ra16cefa267f2489f" /><Relationship Type="http://schemas.openxmlformats.org/officeDocument/2006/relationships/presProps" Target="/ppt/presProps.xml" Id="R8cdf833bad5b4230" /><Relationship Type="http://schemas.openxmlformats.org/officeDocument/2006/relationships/tableStyles" Target="/ppt/tableStyles.xml" Id="Re11c269047c74383" /><Relationship Type="http://schemas.openxmlformats.org/officeDocument/2006/relationships/slide" Target="/ppt/slides/slide1.xml" Id="R13811f6d9ff2452a" /><Relationship Type="http://schemas.openxmlformats.org/officeDocument/2006/relationships/slide" Target="/ppt/slides/slide2.xml" Id="Rda162d46443f49a3" /><Relationship Type="http://schemas.openxmlformats.org/officeDocument/2006/relationships/slide" Target="/ppt/slides/slide3.xml" Id="Rc6fee9dc9d674b62" /><Relationship Type="http://schemas.openxmlformats.org/officeDocument/2006/relationships/slide" Target="/ppt/slides/slide4.xml" Id="Rbb75725c8d224b4c" /><Relationship Type="http://schemas.openxmlformats.org/officeDocument/2006/relationships/slide" Target="/ppt/slides/slide5.xml" Id="Rb6665506ecf4464b" /><Relationship Type="http://schemas.openxmlformats.org/officeDocument/2006/relationships/slide" Target="/ppt/slides/slide6.xml" Id="Reeae04c800b64484" /><Relationship Type="http://schemas.openxmlformats.org/officeDocument/2006/relationships/slide" Target="/ppt/slides/slide7.xml" Id="R9180c8ca14254dd7" /><Relationship Type="http://schemas.openxmlformats.org/officeDocument/2006/relationships/slide" Target="/ppt/slides/slide8.xml" Id="Rb50014db4c434e70" /><Relationship Type="http://schemas.openxmlformats.org/officeDocument/2006/relationships/slide" Target="/ppt/slides/slide9.xml" Id="R55a60f7eb6714ab0" /><Relationship Type="http://schemas.openxmlformats.org/officeDocument/2006/relationships/slide" Target="/ppt/slides/slide10.xml" Id="Rfd06d49f972a4688" /><Relationship Type="http://schemas.openxmlformats.org/officeDocument/2006/relationships/slide" Target="/ppt/slides/slide11.xml" Id="Ra291e3e415544392" /><Relationship Type="http://schemas.openxmlformats.org/officeDocument/2006/relationships/slide" Target="/ppt/slides/slide12.xml" Id="Rdb942f7969b34696" /><Relationship Type="http://schemas.openxmlformats.org/officeDocument/2006/relationships/slide" Target="/ppt/slides/slide13.xml" Id="R6459f2fb580f41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03fcb225b945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09175e50834eb1" /><Relationship Type="http://schemas.openxmlformats.org/officeDocument/2006/relationships/notesMaster" Target="/ppt/notesMasters/notesMaster1.xml" Id="R1fb41b4f17924f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75face2b784ce8" /><Relationship Type="http://schemas.openxmlformats.org/officeDocument/2006/relationships/notesMaster" Target="/ppt/notesMasters/notesMaster1.xml" Id="R05af212022bc45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c165c02f5e4f8a" /><Relationship Type="http://schemas.openxmlformats.org/officeDocument/2006/relationships/notesMaster" Target="/ppt/notesMasters/notesMaster1.xml" Id="Rdc9a6271d7894f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098659ae25446d" /><Relationship Type="http://schemas.openxmlformats.org/officeDocument/2006/relationships/notesMaster" Target="/ppt/notesMasters/notesMaster1.xml" Id="R6faed8b9024c46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93bd40000d4f74" /><Relationship Type="http://schemas.openxmlformats.org/officeDocument/2006/relationships/notesMaster" Target="/ppt/notesMasters/notesMaster1.xml" Id="Rdf981d39b7374c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aecb4a22514c60" /><Relationship Type="http://schemas.openxmlformats.org/officeDocument/2006/relationships/notesMaster" Target="/ppt/notesMasters/notesMaster1.xml" Id="R46bf755dddec46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198c3294ca443f" /><Relationship Type="http://schemas.openxmlformats.org/officeDocument/2006/relationships/notesMaster" Target="/ppt/notesMasters/notesMaster1.xml" Id="R057e35facb2148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3a0692ab614a14" /><Relationship Type="http://schemas.openxmlformats.org/officeDocument/2006/relationships/notesMaster" Target="/ppt/notesMasters/notesMaster1.xml" Id="R64f87f7094514f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79d3c91d214191" /><Relationship Type="http://schemas.openxmlformats.org/officeDocument/2006/relationships/notesMaster" Target="/ppt/notesMasters/notesMaster1.xml" Id="Re6cb5356270649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34c8dd22334ef8" /><Relationship Type="http://schemas.openxmlformats.org/officeDocument/2006/relationships/notesMaster" Target="/ppt/notesMasters/notesMaster1.xml" Id="R6d7807065fde46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98be4925124799" /><Relationship Type="http://schemas.openxmlformats.org/officeDocument/2006/relationships/notesMaster" Target="/ppt/notesMasters/notesMaster1.xml" Id="Rcc30daa364034d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b1dfd8fbb24ab5" /><Relationship Type="http://schemas.openxmlformats.org/officeDocument/2006/relationships/notesMaster" Target="/ppt/notesMasters/notesMaster1.xml" Id="R41185a1ef7454f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5dc0a3f0ac489d" /><Relationship Type="http://schemas.openxmlformats.org/officeDocument/2006/relationships/notesMaster" Target="/ppt/notesMasters/notesMaster1.xml" Id="R2e1b4ea53e5b4c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Mentor is a controlled local JEE foundations prototype. The core uses deterministic evidence rules. No learner-outcome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National Testing Agency, press release 20 April 2026. https://www.nta.ac.in/Download/Notice/Notice_20260420194021.pdf . 1,604,854 unique candidates registered across January/April JEE Main 2026. Registered is not appeared. Scale does not establish product demand.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ASER 2024 National findings, printed pp47–48. https://asercentre.org/wp-content/uploads/2022/12/ASER-2024-National-findings.pdf . Rural Class VIII students able to do assessed basic division: 44.1% (2018), 44.7% (2022), 45.8% (2024). These are not JEE aspirants. Do not extrapolate prevalence to the target population.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wrong projectile-motion answer can reflect prerequisite difficulty, a problem applying a known idea, a wrong model or a misread condition. This is a reasoning illustration, not an observed learner result. A score alone cannot distinguish these explanations.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local app screenshot captured for this presentation. Guest mode with no learner history. Loop: wrong-question or topic entry, bounded prerequisite checks, honest outcome, targeted contrast and NCERT/teacher routing, immediate recheck and later review. Coverage is nine concept nodes, subject to content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mechanism, not an approved bank item: force magnitude 10 N. If angle 30 degrees is from horizontal, horizontal component is 10 cos(30 degrees). If angle is from vertical, horizontal component is 10 sin(30 degrees). Knowing a familiar formula is different from identifying its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Left: illustrative prerequisite path, not an observed user result. Actual graph relationships: projectile depends on vector components and 1D kinematics. Vector components depend on trig and vector basics. The simplified diagram highlights the components branch only. Right: actual local concept-map interface, guest mode, not learner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 permits suspected contributing gap, no prerequisite difficulty found, inconclusive, out of coverage and student-disputed outcomes. A successful immediate repair check establishes immediate performance only. No diagnostic certainty or retention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implementation sources: app/lib/mentor/run.ts, schemas.ts and tools.ts; app/lib/items.ts and app/lib/probe.ts. Bounded Cline SDK agents suggest entry/probe ordering/repair choice from structured context. Validation accepts a permitted suggestion or falls back. Only graded evidence changes state. Question-bank writer/solver code exists; human approval remains separate. Live model performance was not verified in this presentation preparation.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snapshot 10 October 2026: GRAPH has 9 nodes; content/qbank.json has 28 entries, including 27 authored diagnostic entries (9 A, 9 B1, 9 B2) and one additional verified entry. No bank entry has final status approved plus approvedBy. Current test run passed 247 tests across 28 files. TypeScript errors remain in a bank script/test fixtures. Neither unit tests nor bank counts establish learner gains, live integration success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planned validation step, not an existing pilot or measured result. Observe adult learners completing a diagnosis-to-recheck loop without coaching. Measure completion, abandonment, ability to explain the next action and later changed-context performance. Compare with the learner’s usual approach before claiming learning or efficiency gains.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snapshot 10 October 2026. Product source files and current vitest / TypeScript results. AI mode remains controlled adult-only. Provider suitability for minors remains an open gate. No legal compliance, school readiness or public deployment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NTA: https://www.nta.ac.in/Download/Notice/Notice_20260420194021.pdf . ASER: https://asercentre.org/wp-content/uploads/2022/12/ASER-2024-National-findings.pdf . Local: app/content/graph.ts, app/content/qbank.json, app/lib/items.ts, app/lib/probe.ts, app/lib/mentor/run.ts and 10 Oct 2026 test/type-check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689422c1a44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8d8238c0e40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d34d21d5842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3e64d18554b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398e960844a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ce2ede73e4b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BABBEB-EE10-4D21-A32E-047A481D1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DE6EF2-2F6E-471C-9B83-8933331019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2A99C7-8565-4F2E-99E9-1E1CC2BC74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DCC374-9A79-4D29-8053-EABDD8125A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791690-CA54-4425-8608-72E246E519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A55436-9479-4A09-A628-B80E962374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D03805-B026-479D-AF2A-AC3A02361E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5AF40E-6DA2-4604-BA40-788B5BEBA0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201932-F6A1-421C-BEC0-716C7816B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C75A1F-A8A6-4704-98AD-7C12C20191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d99c4f58b64c07" /><Relationship Type="http://schemas.openxmlformats.org/officeDocument/2006/relationships/slideLayout" Target="/ppt/slideLayouts/slideLayout1.xml" Id="R5ea5bc53323a4811" /><Relationship Type="http://schemas.openxmlformats.org/officeDocument/2006/relationships/slideLayout" Target="/ppt/slideLayouts/slideLayout2.xml" Id="Rc0e6a71d90704f3a" /><Relationship Type="http://schemas.openxmlformats.org/officeDocument/2006/relationships/slideLayout" Target="/ppt/slideLayouts/slideLayout3.xml" Id="R90cb54525c2749dd" /><Relationship Type="http://schemas.openxmlformats.org/officeDocument/2006/relationships/slideLayout" Target="/ppt/slideLayouts/slideLayout4.xml" Id="Reb71e36d2cf94070" /><Relationship Type="http://schemas.openxmlformats.org/officeDocument/2006/relationships/slideLayout" Target="/ppt/slideLayouts/slideLayout5.xml" Id="Rcd0cc0f984c84ea5" /><Relationship Type="http://schemas.openxmlformats.org/officeDocument/2006/relationships/slideLayout" Target="/ppt/slideLayouts/slideLayout6.xml" Id="Rdd3080b526af4f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a5bc53323a4811"/>
    <p:sldLayoutId xmlns:r="http://schemas.openxmlformats.org/officeDocument/2006/relationships" id="2147483650" r:id="Rc0e6a71d90704f3a"/>
    <p:sldLayoutId xmlns:r="http://schemas.openxmlformats.org/officeDocument/2006/relationships" id="2147483651" r:id="R90cb54525c2749dd"/>
    <p:sldLayoutId xmlns:r="http://schemas.openxmlformats.org/officeDocument/2006/relationships" id="2147483652" r:id="Reb71e36d2cf94070"/>
    <p:sldLayoutId xmlns:r="http://schemas.openxmlformats.org/officeDocument/2006/relationships" id="2147483653" r:id="Rcd0cc0f984c84ea5"/>
    <p:sldLayoutId xmlns:r="http://schemas.openxmlformats.org/officeDocument/2006/relationships" id="2147483654" r:id="Rdd3080b526af4f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9dc8694f349c1" /><Relationship Type="http://schemas.openxmlformats.org/officeDocument/2006/relationships/image" Target="/ppt/media/image.png" Id="R6c506267ff91425d" /><Relationship Type="http://schemas.openxmlformats.org/officeDocument/2006/relationships/image" Target="/ppt/media/image2.png" Id="Rf9ce0e2e726e48d9" /><Relationship Type="http://schemas.openxmlformats.org/officeDocument/2006/relationships/notesSlide" Target="/ppt/notesSlides/notesSlide1.xml" Id="Rc4fcad615b7148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7fad0e71a4df9" /><Relationship Type="http://schemas.openxmlformats.org/officeDocument/2006/relationships/image" Target="/ppt/media/image3.png" Id="Rfc44f21b8a934862" /><Relationship Type="http://schemas.openxmlformats.org/officeDocument/2006/relationships/notesSlide" Target="/ppt/notesSlides/notesSlide2.xml" Id="R9e4ce5e34ffb43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7ee61fbf0649e7" /><Relationship Type="http://schemas.openxmlformats.org/officeDocument/2006/relationships/image" Target="/ppt/media/image4.png" Id="Rf8a02a906e0440cf" /><Relationship Type="http://schemas.openxmlformats.org/officeDocument/2006/relationships/chart" Target="/ppt/slides/charts/chart1.xml" Id="Rdd69704bde7c4c4d" /><Relationship Type="http://schemas.openxmlformats.org/officeDocument/2006/relationships/notesSlide" Target="/ppt/notesSlides/notesSlide3.xml" Id="Reb7fe6139f1848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0d87df9bca44ff" /><Relationship Type="http://schemas.openxmlformats.org/officeDocument/2006/relationships/image" Target="/ppt/media/image5.png" Id="R5e2f933904f6487a" /><Relationship Type="http://schemas.openxmlformats.org/officeDocument/2006/relationships/notesSlide" Target="/ppt/notesSlides/notesSlide4.xml" Id="Rd567634660b24d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d5da7f8e3847f3" /><Relationship Type="http://schemas.openxmlformats.org/officeDocument/2006/relationships/image" Target="/ppt/media/image6.png" Id="R36fdb6d5db3b49a1" /><Relationship Type="http://schemas.openxmlformats.org/officeDocument/2006/relationships/image" Target="/ppt/media/image7.png" Id="Re410560df9d941dc" /><Relationship Type="http://schemas.openxmlformats.org/officeDocument/2006/relationships/notesSlide" Target="/ppt/notesSlides/notesSlide5.xml" Id="Rc1a6af1967804a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1b855a1084974" /><Relationship Type="http://schemas.openxmlformats.org/officeDocument/2006/relationships/image" Target="/ppt/media/image8.png" Id="Rde4188bd80ca4527" /><Relationship Type="http://schemas.openxmlformats.org/officeDocument/2006/relationships/notesSlide" Target="/ppt/notesSlides/notesSlide6.xml" Id="R9a7d8efd048943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1210a6d884764" /><Relationship Type="http://schemas.openxmlformats.org/officeDocument/2006/relationships/image" Target="/ppt/media/image9.png" Id="R18a432b1ab314bf3" /><Relationship Type="http://schemas.openxmlformats.org/officeDocument/2006/relationships/image" Target="/ppt/media/image10.png" Id="Rdb125311c14e4cfa" /><Relationship Type="http://schemas.openxmlformats.org/officeDocument/2006/relationships/notesSlide" Target="/ppt/notesSlides/notesSlide7.xml" Id="R8db458d7dac642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c7a6d7b1b404f" /><Relationship Type="http://schemas.openxmlformats.org/officeDocument/2006/relationships/image" Target="/ppt/media/image11.png" Id="R467826055491460f" /><Relationship Type="http://schemas.openxmlformats.org/officeDocument/2006/relationships/notesSlide" Target="/ppt/notesSlides/notesSlide8.xml" Id="R67237f04be5646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f3ac8f5da4902" /><Relationship Type="http://schemas.openxmlformats.org/officeDocument/2006/relationships/image" Target="/ppt/media/image12.png" Id="R1ea86bbe162848d7" /><Relationship Type="http://schemas.openxmlformats.org/officeDocument/2006/relationships/notesSlide" Target="/ppt/notesSlides/notesSlide9.xml" Id="Rbb88a493a8cf49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255b628704e3c" /><Relationship Type="http://schemas.openxmlformats.org/officeDocument/2006/relationships/image" Target="/ppt/media/image13.png" Id="R5cd67cd061314043" /><Relationship Type="http://schemas.openxmlformats.org/officeDocument/2006/relationships/notesSlide" Target="/ppt/notesSlides/notesSlide10.xml" Id="Re6a130c1c4dc4a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4de2b100b44308" /><Relationship Type="http://schemas.openxmlformats.org/officeDocument/2006/relationships/image" Target="/ppt/media/image14.png" Id="R7524bf3a790347f4" /><Relationship Type="http://schemas.openxmlformats.org/officeDocument/2006/relationships/notesSlide" Target="/ppt/notesSlides/notesSlide11.xml" Id="R2de2f21a641547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03fcc25a2d4838" /><Relationship Type="http://schemas.openxmlformats.org/officeDocument/2006/relationships/image" Target="/ppt/media/image15.png" Id="R36080273e58f44b8" /><Relationship Type="http://schemas.openxmlformats.org/officeDocument/2006/relationships/notesSlide" Target="/ppt/notesSlides/notesSlide12.xml" Id="R60e64825d6124c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ab1f3a8024c8a" /><Relationship Type="http://schemas.openxmlformats.org/officeDocument/2006/relationships/image" Target="/ppt/media/image16.png" Id="R2153710c1da34dac" /><Relationship Type="http://schemas.openxmlformats.org/officeDocument/2006/relationships/hyperlink" Target="https://www.nta.ac.in/Download/Notice/Notice_20260420194021.pdf" TargetMode="External" Id="R43e42cc9abd0448d" /><Relationship Type="http://schemas.openxmlformats.org/officeDocument/2006/relationships/hyperlink" Target="https://asercentre.org/wp-content/uploads/2022/12/ASER-2024-National-findings.pdf" TargetMode="External" Id="R16e1368561fa4ea0" /><Relationship Type="http://schemas.openxmlformats.org/officeDocument/2006/relationships/notesSlide" Target="/ppt/notesSlides/notesSlide13.xml" Id="R07af42990bb9458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Can do assessed division</c:v>
          </c:tx>
          <c:spPr>
            <a:solidFill xmlns:a="http://schemas.openxmlformats.org/drawingml/2006/main">
              <a:srgbClr val="24785A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2018</c:v>
                </c:pt>
                <c:pt idx="1">
                  <c:v>2022</c:v>
                </c:pt>
                <c:pt idx="2">
                  <c:v>2024</c:v>
                </c:pt>
              </c:numCache>
            </c:num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44.1</c:v>
                </c:pt>
                <c:pt idx="1">
                  <c:v>44.7</c:v>
                </c:pt>
                <c:pt idx="2">
                  <c:v>45.8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31453F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7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E4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4F7F9"/>
        </a:solidFill>
      </c:spPr>
    </c:plotArea>
    <c:plotVisOnly val="1"/>
  </c:chart>
  <c:spPr>
    <a:solidFill xmlns:a="http://schemas.openxmlformats.org/drawingml/2006/main">
      <a:srgbClr val="F4F7F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7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A3087-BBD5-4870-935C-08A3418F71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06267ff91425d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2681C162-19AE-49FB-BF1A-89EBFA9A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2A8EC884-DB10-4527-8E4D-026E140D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902C2-A940-494C-8718-F7EE739D59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e0e2e726e48d9"/>
          <a:stretch xmlns:a="http://schemas.openxmlformats.org/drawingml/2006/main"/>
        </p:blipFill>
        <p:spPr>
          <a:xfrm xmlns:a="http://schemas.openxmlformats.org/drawingml/2006/main">
            <a:off x="609636" y="619125"/>
            <a:ext cx="533328" cy="563804"/>
          </a:xfrm>
          <a:prstGeom xmlns:a="http://schemas.openxmlformats.org/drawingml/2006/main" prst="rect">
            <a:avLst/>
          </a:prstGeom>
        </p:spPr>
      </p:pic>
      <p:sp>
        <p:nvSpPr>
          <p:cNvPr id="5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323EC9D2-5F4B-4738-AD3C-6C1F3867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38175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150" b="0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3150" b="0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6" name="A clearer next step&#10;after a wrong answer">
            <a:extLst xmlns:a="http://schemas.openxmlformats.org/drawingml/2006/main">
              <a:ext uri="{FF2B5EF4-FFF2-40B4-BE49-F238E27FC236}">
                <a16:creationId xmlns:a16="http://schemas.microsoft.com/office/drawing/2014/main" id="{D73216D3-D557-4018-BD33-AC9B0F17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A clearer next step</a:t>
            </a:r>
          </a:p>
          <a:p xmlns:a="http://schemas.openxmlformats.org/drawingml/2006/main">
            <a:pPr algn="l">
              <a:def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570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after a wrong answer</a:t>
            </a:r>
          </a:p>
        </p:txBody>
      </p:sp>
      <p:sp>
        <p:nvSpPr>
          <p:cNvPr id="7" name="JEE physics and mathematics diagnosis">
            <a:extLst xmlns:a="http://schemas.openxmlformats.org/drawingml/2006/main">
              <a:ext uri="{FF2B5EF4-FFF2-40B4-BE49-F238E27FC236}">
                <a16:creationId xmlns:a16="http://schemas.microsoft.com/office/drawing/2014/main" id="{AFD1C3CD-6215-4328-B068-6A0B09AF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2250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JEE physics and mathematics diagnosis</a:t>
            </a:r>
          </a:p>
        </p:txBody>
      </p:sp>
      <p:sp>
        <p:nvSpPr>
          <p:cNvPr id="8" name="Cline Hackathon Finals">
            <a:extLst xmlns:a="http://schemas.openxmlformats.org/drawingml/2006/main">
              <a:ext uri="{FF2B5EF4-FFF2-40B4-BE49-F238E27FC236}">
                <a16:creationId xmlns:a16="http://schemas.microsoft.com/office/drawing/2014/main" id="{48021DFD-91D3-4EA7-8377-9FB9984D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Cline Hackathon Finals</a:t>
            </a:r>
          </a:p>
        </p:txBody>
      </p:sp>
    </p:spTree>
    <p:extLst>
      <p:ext uri="{BB962C8B-B14F-4D97-AF65-F5344CB8AC3E}">
        <p14:creationId xmlns:p14="http://schemas.microsoft.com/office/powerpoint/2010/main" val="481070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he scale of the study decision">
            <a:extLst xmlns:a="http://schemas.openxmlformats.org/drawingml/2006/main">
              <a:ext uri="{FF2B5EF4-FFF2-40B4-BE49-F238E27FC236}">
                <a16:creationId xmlns:a16="http://schemas.microsoft.com/office/drawing/2014/main" id="{FB8E2D3E-3E4B-40E1-96CC-20C513AE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scale of the study decision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AD4F7-ACA7-4622-A58E-330DBE8448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4f21b8a934862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225C19C1-D180-4AA4-BF36-9484FFC2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802F084B-4982-40A5-B546-B099FA34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5" name="16.05 lakh">
            <a:extLst xmlns:a="http://schemas.openxmlformats.org/drawingml/2006/main">
              <a:ext uri="{FF2B5EF4-FFF2-40B4-BE49-F238E27FC236}">
                <a16:creationId xmlns:a16="http://schemas.microsoft.com/office/drawing/2014/main" id="{71F0CC3D-F0B5-4C00-AFB6-F2AAA6F4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5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10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110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110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16.05 lakh</a:t>
            </a:r>
          </a:p>
        </p:txBody>
      </p:sp>
      <p:sp>
        <p:nvSpPr>
          <p:cNvPr id="6" name="Unique candidates registered for JEE Main 202">
            <a:extLst xmlns:a="http://schemas.openxmlformats.org/drawingml/2006/main">
              <a:ext uri="{FF2B5EF4-FFF2-40B4-BE49-F238E27FC236}">
                <a16:creationId xmlns:a16="http://schemas.microsoft.com/office/drawing/2014/main" id="{3A503786-2406-4B3B-8793-3F4C228D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4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Unique candidates registered for JEE Main 2026</a:t>
            </a:r>
          </a:p>
        </p:txBody>
      </p:sp>
      <p:sp>
        <p:nvSpPr>
          <p:cNvPr id="7" name="After a wrong answer, what should the learner">
            <a:extLst xmlns:a="http://schemas.openxmlformats.org/drawingml/2006/main">
              <a:ext uri="{FF2B5EF4-FFF2-40B4-BE49-F238E27FC236}">
                <a16:creationId xmlns:a16="http://schemas.microsoft.com/office/drawing/2014/main" id="{924CB0E0-377B-4D3D-A63B-CFD73F26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7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After a wrong answer, what should the learner study next?</a:t>
            </a:r>
          </a:p>
        </p:txBody>
      </p:sp>
      <p:sp>
        <p:nvSpPr>
          <p:cNvPr id="8" name="Source: NTA, 20 April 2026. Both sessions com">
            <a:extLst xmlns:a="http://schemas.openxmlformats.org/drawingml/2006/main">
              <a:ext uri="{FF2B5EF4-FFF2-40B4-BE49-F238E27FC236}">
                <a16:creationId xmlns:a16="http://schemas.microsoft.com/office/drawing/2014/main" id="{116643C7-34B0-4EDF-8DB6-0B6DB973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Source: NTA, 20 April 2026. Both sessions combined.</a:t>
            </a:r>
          </a:p>
        </p:txBody>
      </p:sp>
    </p:spTree>
    <p:extLst>
      <p:ext uri="{BB962C8B-B14F-4D97-AF65-F5344CB8AC3E}">
        <p14:creationId xmlns:p14="http://schemas.microsoft.com/office/powerpoint/2010/main" val="2746522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undational gaps persist into Class VIII">
            <a:extLst xmlns:a="http://schemas.openxmlformats.org/drawingml/2006/main">
              <a:ext uri="{FF2B5EF4-FFF2-40B4-BE49-F238E27FC236}">
                <a16:creationId xmlns:a16="http://schemas.microsoft.com/office/drawing/2014/main" id="{EF5FFA0E-AA05-44A6-8293-92B3B0F8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Foundational gaps persist into Class VIII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4D143-C25C-40AF-AF5C-7DB39D51F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02a906e0440cf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54C9F061-BAC4-49DB-8C6D-68477FD3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B18349B7-C9DB-430D-A214-5BB1131F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86125A9-95C5-4B93-A16B-F69AFCF66D9A}"/>
              </a:ext>
            </a:extLst>
          </p:cNvPr>
          <p:cNvGraphicFramePr/>
          <p:nvPr/>
        </p:nvGraphicFramePr>
        <p:xfrm>
          <a:off xmlns:a="http://schemas.openxmlformats.org/drawingml/2006/main" x="552450" y="1952625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69704bde7c4c4d"/>
          </a:graphicData>
        </a:graphic>
      </p:graphicFrame>
      <p:sp>
        <p:nvSpPr>
          <p:cNvPr id="6" name="45.8%">
            <a:extLst xmlns:a="http://schemas.openxmlformats.org/drawingml/2006/main">
              <a:ext uri="{FF2B5EF4-FFF2-40B4-BE49-F238E27FC236}">
                <a16:creationId xmlns:a16="http://schemas.microsoft.com/office/drawing/2014/main" id="{A2E737B2-8BE0-48FB-A2BE-AECE13B6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585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45.8%</a:t>
            </a:r>
          </a:p>
        </p:txBody>
      </p:sp>
      <p:sp>
        <p:nvSpPr>
          <p:cNvPr id="7" name="could do the assessed&#10;division task in 2024">
            <a:extLst xmlns:a="http://schemas.openxmlformats.org/drawingml/2006/main">
              <a:ext uri="{FF2B5EF4-FFF2-40B4-BE49-F238E27FC236}">
                <a16:creationId xmlns:a16="http://schemas.microsoft.com/office/drawing/2014/main" id="{DC7E50D5-EB0D-401B-8901-E7B0E3F6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909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could do the assessed</a:t>
            </a:r>
          </a:p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division task in 2024</a:t>
            </a:r>
          </a:p>
        </p:txBody>
      </p:sp>
      <p:sp>
        <p:nvSpPr>
          <p:cNvPr id="8" name="Rural Class VIII students.&#10;Broader context, n">
            <a:extLst xmlns:a="http://schemas.openxmlformats.org/drawingml/2006/main">
              <a:ext uri="{FF2B5EF4-FFF2-40B4-BE49-F238E27FC236}">
                <a16:creationId xmlns:a16="http://schemas.microsoft.com/office/drawing/2014/main" id="{2D182DEE-E68F-4F32-AF8C-8C4175E7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29175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Rural Class VIII students.</a:t>
            </a:r>
          </a:p>
          <a:p xmlns:a="http://schemas.openxmlformats.org/drawingml/2006/main">
            <a:pPr algn="l">
              <a:def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Broader context, not a JEE study.</a:t>
            </a:r>
          </a:p>
        </p:txBody>
      </p:sp>
      <p:sp>
        <p:nvSpPr>
          <p:cNvPr id="9" name="Source: ASER 2024 National findings, pp. 47–4">
            <a:extLst xmlns:a="http://schemas.openxmlformats.org/drawingml/2006/main">
              <a:ext uri="{FF2B5EF4-FFF2-40B4-BE49-F238E27FC236}">
                <a16:creationId xmlns:a16="http://schemas.microsoft.com/office/drawing/2014/main" id="{C357D926-0DD8-4147-B1D3-565B849B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Source: ASER 2024 National findings, pp. 47–48</a:t>
            </a:r>
          </a:p>
        </p:txBody>
      </p:sp>
    </p:spTree>
    <p:extLst>
      <p:ext uri="{BB962C8B-B14F-4D97-AF65-F5344CB8AC3E}">
        <p14:creationId xmlns:p14="http://schemas.microsoft.com/office/powerpoint/2010/main" val="12203731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One wrong answer, several explanations">
            <a:extLst xmlns:a="http://schemas.openxmlformats.org/drawingml/2006/main">
              <a:ext uri="{FF2B5EF4-FFF2-40B4-BE49-F238E27FC236}">
                <a16:creationId xmlns:a16="http://schemas.microsoft.com/office/drawing/2014/main" id="{22B6F894-57C0-49F6-A0AC-0B95A3AE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One wrong answer, several explanations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440A7-FF2F-4DD7-9069-8F5EFC82D6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f933904f6487a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7ABBA9A6-FC4A-4F46-B74D-EFF4B348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E1A9E649-903C-4B75-AB82-797B5C51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5" name="“I got the projectile&#10;question wrong.”">
            <a:extLst xmlns:a="http://schemas.openxmlformats.org/drawingml/2006/main">
              <a:ext uri="{FF2B5EF4-FFF2-40B4-BE49-F238E27FC236}">
                <a16:creationId xmlns:a16="http://schemas.microsoft.com/office/drawing/2014/main" id="{4A5919F0-1745-459F-961F-873DFB0A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“I got the projectile</a:t>
            </a:r>
          </a:p>
          <a:p xmlns:a="http://schemas.openxmlformats.org/drawingml/2006/main">
            <a:pPr algn="l">
              <a:def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question wrong.”</a:t>
            </a:r>
          </a:p>
        </p:txBody>
      </p:sp>
      <p:sp>
        <p:nvSpPr>
          <p:cNvPr id="6" name="Illustrative learner scenario">
            <a:extLst xmlns:a="http://schemas.openxmlformats.org/drawingml/2006/main">
              <a:ext uri="{FF2B5EF4-FFF2-40B4-BE49-F238E27FC236}">
                <a16:creationId xmlns:a16="http://schemas.microsoft.com/office/drawing/2014/main" id="{DB4F0881-4552-40D7-ADCB-F73F3145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Illustrative learner scenario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043647E9-3633-49E8-B699-1D732A82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An older concept needs attention">
            <a:extLst xmlns:a="http://schemas.openxmlformats.org/drawingml/2006/main">
              <a:ext uri="{FF2B5EF4-FFF2-40B4-BE49-F238E27FC236}">
                <a16:creationId xmlns:a16="http://schemas.microsoft.com/office/drawing/2014/main" id="{25FAE6B4-E409-435B-AD45-8EA17BEA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3835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An older concept needs attention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02D59F55-B555-4DCD-A9C2-AA3E044E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2417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A known idea is hard to apply">
            <a:extLst xmlns:a="http://schemas.openxmlformats.org/drawingml/2006/main">
              <a:ext uri="{FF2B5EF4-FFF2-40B4-BE49-F238E27FC236}">
                <a16:creationId xmlns:a16="http://schemas.microsoft.com/office/drawing/2014/main" id="{773B9E0A-EF45-4316-AF2F-55E66081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86075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 known idea is hard to apply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6CDF9DE2-99A8-4697-9CBA-9FDBEEBD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719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2" name="The chosen model does not fit">
            <a:extLst xmlns:a="http://schemas.openxmlformats.org/drawingml/2006/main">
              <a:ext uri="{FF2B5EF4-FFF2-40B4-BE49-F238E27FC236}">
                <a16:creationId xmlns:a16="http://schemas.microsoft.com/office/drawing/2014/main" id="{BC06336E-B51F-4F25-86EC-613CA0CD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33800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chosen model does not fit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4FA2F33B-5302-4CF4-8475-8479FDD5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196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4" name="A condition was misread">
            <a:extLst xmlns:a="http://schemas.openxmlformats.org/drawingml/2006/main">
              <a:ext uri="{FF2B5EF4-FFF2-40B4-BE49-F238E27FC236}">
                <a16:creationId xmlns:a16="http://schemas.microsoft.com/office/drawing/2014/main" id="{6D927430-1241-432F-811D-1669975D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81525"/>
            <a:ext cx="471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 condition was misread</a:t>
            </a:r>
          </a:p>
        </p:txBody>
      </p:sp>
      <p:sp>
        <p:nvSpPr>
          <p:cNvPr id="15" name="A score alone cannot select the right repair">
            <a:extLst xmlns:a="http://schemas.openxmlformats.org/drawingml/2006/main">
              <a:ext uri="{FF2B5EF4-FFF2-40B4-BE49-F238E27FC236}">
                <a16:creationId xmlns:a16="http://schemas.microsoft.com/office/drawing/2014/main" id="{196DF1BD-1911-4068-883F-6B32BD26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 score alone cannot select the right repair</a:t>
            </a:r>
          </a:p>
        </p:txBody>
      </p:sp>
    </p:spTree>
    <p:extLst>
      <p:ext uri="{BB962C8B-B14F-4D97-AF65-F5344CB8AC3E}">
        <p14:creationId xmlns:p14="http://schemas.microsoft.com/office/powerpoint/2010/main" val="985303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he diagnosis and repair loop">
            <a:extLst xmlns:a="http://schemas.openxmlformats.org/drawingml/2006/main">
              <a:ext uri="{FF2B5EF4-FFF2-40B4-BE49-F238E27FC236}">
                <a16:creationId xmlns:a16="http://schemas.microsoft.com/office/drawing/2014/main" id="{6BF1907A-7A0F-4E6C-83F8-65F79C61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diagnosis and repair loop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1DA83-DCB1-4C86-915C-321D12D50F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db6d5db3b49a1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EE6EAF2F-BEDB-4014-8695-64B96140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C1770CEE-9F1A-450D-9732-2AB13D40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5" name="01   Start with a topic or mistake&#10;&#10;02   Chec">
            <a:extLst xmlns:a="http://schemas.openxmlformats.org/drawingml/2006/main">
              <a:ext uri="{FF2B5EF4-FFF2-40B4-BE49-F238E27FC236}">
                <a16:creationId xmlns:a16="http://schemas.microsoft.com/office/drawing/2014/main" id="{DA85496D-49D4-4968-B5F4-391BBF2F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714875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01   Start with a topic or mistake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02   Check relevant prerequisites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03   Choose a focused repair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04   Check again and revisit later</a:t>
            </a:r>
          </a:p>
        </p:txBody>
      </p:sp>
      <p:sp>
        <p:nvSpPr>
          <p:cNvPr id="6" name="At most six diagnostic probes">
            <a:extLst xmlns:a="http://schemas.openxmlformats.org/drawingml/2006/main">
              <a:ext uri="{FF2B5EF4-FFF2-40B4-BE49-F238E27FC236}">
                <a16:creationId xmlns:a16="http://schemas.microsoft.com/office/drawing/2014/main" id="{617ABE9F-758E-44DF-A433-72D1875B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At most six diagnostic probes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DE886-89D1-4D25-9F80-5FBCFDED81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0560df9d941dc"/>
          <a:stretch xmlns:a="http://schemas.openxmlformats.org/drawingml/2006/main"/>
        </p:blipFill>
        <p:spPr>
          <a:xfrm xmlns:a="http://schemas.openxmlformats.org/drawingml/2006/main">
            <a:off x="5505450" y="1812396"/>
            <a:ext cx="6096000" cy="423333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342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hanged context tests when a method applies">
            <a:extLst xmlns:a="http://schemas.openxmlformats.org/drawingml/2006/main">
              <a:ext uri="{FF2B5EF4-FFF2-40B4-BE49-F238E27FC236}">
                <a16:creationId xmlns:a16="http://schemas.microsoft.com/office/drawing/2014/main" id="{2061EEA2-198E-4805-9CAC-B584F12A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Changed context tests when a method applies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CBC3E-A722-4472-A7A7-94D790ECBB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188bd80ca4527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961E685A-8D7D-4CBD-A02E-8A9DD0AF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D1970FB6-2506-45D2-90BD-51939316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5" name="Angle measured from&#10;the horizontal">
            <a:extLst xmlns:a="http://schemas.openxmlformats.org/drawingml/2006/main">
              <a:ext uri="{FF2B5EF4-FFF2-40B4-BE49-F238E27FC236}">
                <a16:creationId xmlns:a16="http://schemas.microsoft.com/office/drawing/2014/main" id="{57A588BC-F16B-4DE0-95EC-44E5443C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Angle measured from</a:t>
            </a:r>
          </a:p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horizontal</a:t>
            </a:r>
          </a:p>
        </p:txBody>
      </p:sp>
      <p:sp>
        <p:nvSpPr>
          <p:cNvPr id="6" name="Angle measured from&#10;the vertical">
            <a:extLst xmlns:a="http://schemas.openxmlformats.org/drawingml/2006/main">
              <a:ext uri="{FF2B5EF4-FFF2-40B4-BE49-F238E27FC236}">
                <a16:creationId xmlns:a16="http://schemas.microsoft.com/office/drawing/2014/main" id="{7ED2DF1D-4890-45BF-986B-09DB2381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193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Angle measured from</a:t>
            </a:r>
          </a:p>
          <a:p xmlns:a="http://schemas.openxmlformats.org/drawingml/2006/main">
            <a:pPr algn="l">
              <a:def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vertical</a:t>
            </a:r>
          </a:p>
        </p:txBody>
      </p:sp>
      <p:sp>
        <p:nvSpPr>
          <p:cNvPr id="7" name="Fₓ = 10 cos 30°">
            <a:extLst xmlns:a="http://schemas.openxmlformats.org/drawingml/2006/main">
              <a:ext uri="{FF2B5EF4-FFF2-40B4-BE49-F238E27FC236}">
                <a16:creationId xmlns:a16="http://schemas.microsoft.com/office/drawing/2014/main" id="{2D715C49-2415-415B-A6E3-FF2303F2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Fₓ = 10 cos 30°</a:t>
            </a:r>
          </a:p>
        </p:txBody>
      </p:sp>
      <p:sp>
        <p:nvSpPr>
          <p:cNvPr id="8" name="Fₓ = 10 sin 30°">
            <a:extLst xmlns:a="http://schemas.openxmlformats.org/drawingml/2006/main">
              <a:ext uri="{FF2B5EF4-FFF2-40B4-BE49-F238E27FC236}">
                <a16:creationId xmlns:a16="http://schemas.microsoft.com/office/drawing/2014/main" id="{E9B78E1B-C613-491A-A39A-E553E1F8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909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3675" b="1">
                <a:solidFill>
                  <a:srgbClr val="1C3D71"/>
                </a:solidFill>
                <a:latin typeface="Avenir Next"/>
                <a:ea typeface="Avenir Next"/>
                <a:cs typeface="Avenir Next"/>
              </a:rPr>
              <a:t>Fₓ = 10 sin 30°</a:t>
            </a:r>
          </a:p>
        </p:txBody>
      </p:sp>
      <p:sp>
        <p:nvSpPr>
          <p:cNvPr id="9" name="The reference axis changed.&#10;Does the method c">
            <a:extLst xmlns:a="http://schemas.openxmlformats.org/drawingml/2006/main">
              <a:ext uri="{FF2B5EF4-FFF2-40B4-BE49-F238E27FC236}">
                <a16:creationId xmlns:a16="http://schemas.microsoft.com/office/drawing/2014/main" id="{98546638-B2CA-4575-8512-D29192E0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reference axis changed.</a:t>
            </a:r>
          </a:p>
          <a:p xmlns:a="http://schemas.openxmlformats.org/drawingml/2006/main">
            <a:pPr algn="l">
              <a:def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85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Does the method change with it?</a:t>
            </a:r>
          </a:p>
        </p:txBody>
      </p:sp>
      <p:sp>
        <p:nvSpPr>
          <p:cNvPr id="10" name="Illustrative check: a 10 N force in the first">
            <a:extLst xmlns:a="http://schemas.openxmlformats.org/drawingml/2006/main">
              <a:ext uri="{FF2B5EF4-FFF2-40B4-BE49-F238E27FC236}">
                <a16:creationId xmlns:a16="http://schemas.microsoft.com/office/drawing/2014/main" id="{2DA7EA18-B0FE-4D96-BAD8-B16B0EBB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Illustrative check: a 10 N force in the first quadrant</a:t>
            </a:r>
          </a:p>
        </p:txBody>
      </p:sp>
    </p:spTree>
    <p:extLst>
      <p:ext uri="{BB962C8B-B14F-4D97-AF65-F5344CB8AC3E}">
        <p14:creationId xmlns:p14="http://schemas.microsoft.com/office/powerpoint/2010/main" val="18275876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EA26D-D2DA-4C2A-99D1-0B3DA5729827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3190875" y="4048125"/>
            <a:ext cx="1404938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DB5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C0991-AD5E-40E2-A3C2-BFAE916E105E}"/>
              </a:ext>
            </a:extLst>
          </p:cNvPr>
          <p:cNvCxnSpPr>
            <a:stCxn xmlns:a="http://schemas.openxmlformats.org/drawingml/2006/main" id="7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1847850" y="4048125"/>
            <a:ext cx="134302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DB5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029B0-79BE-4CAD-9442-22C651544D4E}"/>
              </a:ext>
            </a:extLst>
          </p:cNvPr>
          <p:cNvCxnSpPr>
            <a:stCxn xmlns:a="http://schemas.openxmlformats.org/drawingml/2006/main" id="6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3190875" y="2676525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DB5"/>
            </a:solidFill>
          </a:ln>
        </p:spPr>
      </p:cxnSp>
      <p:sp>
        <p:nvSpPr>
          <p:cNvPr id="15" name="The concept behind the mistake">
            <a:extLst xmlns:a="http://schemas.openxmlformats.org/drawingml/2006/main">
              <a:ext uri="{FF2B5EF4-FFF2-40B4-BE49-F238E27FC236}">
                <a16:creationId xmlns:a16="http://schemas.microsoft.com/office/drawing/2014/main" id="{3DF630E2-E1A1-4737-8FB1-415A3030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concept behind the mistake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5E782-E6C6-411D-ACDF-C9F340F2C0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432b1ab314bf3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D89B3FFE-395E-4876-A497-0C4806F7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361E32D2-20C6-4EEE-81C2-F13F3B63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79720-DCFF-4A40-B46D-8C40196E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28825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31453F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Projectile 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C3815-C171-4997-B721-FD3CF556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00425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856529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85652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85652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856529"/>
                </a:solidFill>
                <a:latin typeface="Avenir Next"/>
                <a:ea typeface="Avenir Next"/>
                <a:cs typeface="Avenir Next"/>
              </a:rPr>
              <a:t>Vector components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5ABF7-C04E-40A1-80AD-55BF6C61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476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C3D71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rPr>
              <a:t>Trigonometric ratios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9E0C4-FB0D-464E-B7D7-2D7D4915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91075"/>
            <a:ext cx="21431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1C3D71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C3D71"/>
                </a:solidFill>
                <a:latin typeface="Avenir Next"/>
                <a:ea typeface="Avenir Next"/>
                <a:cs typeface="Avenir Next"/>
              </a:rPr>
              <a:t>Vector basics</a:t>
            </a:r>
          </a:p>
        </p:txBody>
      </p:sp>
      <p:sp>
        <p:nvSpPr>
          <p:cNvPr id="12" name="A suspected gap guides the next check">
            <a:extLst xmlns:a="http://schemas.openxmlformats.org/drawingml/2006/main">
              <a:ext uri="{FF2B5EF4-FFF2-40B4-BE49-F238E27FC236}">
                <a16:creationId xmlns:a16="http://schemas.microsoft.com/office/drawing/2014/main" id="{09F5CACA-5FFE-457C-865F-52BBE426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85652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85652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856529"/>
                </a:solidFill>
                <a:latin typeface="Avenir Next"/>
                <a:ea typeface="Avenir Next"/>
                <a:cs typeface="Avenir Next"/>
              </a:rPr>
              <a:t>A suspected gap guides the next check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ADE71-669E-4D96-A749-AE5FD4C739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25311c14e4cfa"/>
          <a:stretch xmlns:a="http://schemas.openxmlformats.org/drawingml/2006/main"/>
        </p:blipFill>
        <p:spPr>
          <a:xfrm xmlns:a="http://schemas.openxmlformats.org/drawingml/2006/main">
            <a:off x="6191250" y="1888596"/>
            <a:ext cx="5410200" cy="3757083"/>
          </a:xfrm>
          <a:prstGeom xmlns:a="http://schemas.openxmlformats.org/drawingml/2006/main" prst="rect">
            <a:avLst/>
          </a:prstGeom>
        </p:spPr>
      </p:pic>
      <p:sp>
        <p:nvSpPr>
          <p:cNvPr id="14" name="Illustrative path; actual interface at right">
            <a:extLst xmlns:a="http://schemas.openxmlformats.org/drawingml/2006/main">
              <a:ext uri="{FF2B5EF4-FFF2-40B4-BE49-F238E27FC236}">
                <a16:creationId xmlns:a16="http://schemas.microsoft.com/office/drawing/2014/main" id="{E81897DD-EEA4-4AFC-B9CB-3C0FDA4F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19775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Illustrative path; actual interface at right</a:t>
            </a:r>
          </a:p>
        </p:txBody>
      </p:sp>
    </p:spTree>
    <p:extLst>
      <p:ext uri="{BB962C8B-B14F-4D97-AF65-F5344CB8AC3E}">
        <p14:creationId xmlns:p14="http://schemas.microsoft.com/office/powerpoint/2010/main" val="13586664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 diagnosis the learner can dispute">
            <a:extLst xmlns:a="http://schemas.openxmlformats.org/drawingml/2006/main">
              <a:ext uri="{FF2B5EF4-FFF2-40B4-BE49-F238E27FC236}">
                <a16:creationId xmlns:a16="http://schemas.microsoft.com/office/drawing/2014/main" id="{843459E0-95C1-4677-AB5F-DC98C759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 diagnosis the learner can dispute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D7B9B-C3FD-45FA-9489-20BA02A22C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826055491460f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F6C69F30-EA39-4E35-BB01-4DC89FA4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6249C45C-F196-44B0-92D2-3E29976F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5" name="Suspected contributing gap">
            <a:extLst xmlns:a="http://schemas.openxmlformats.org/drawingml/2006/main">
              <a:ext uri="{FF2B5EF4-FFF2-40B4-BE49-F238E27FC236}">
                <a16:creationId xmlns:a16="http://schemas.microsoft.com/office/drawing/2014/main" id="{5AAB08EB-3C47-414A-AA9F-FB60428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Suspected contributing gap</a:t>
            </a:r>
          </a:p>
        </p:txBody>
      </p:sp>
      <p:sp>
        <p:nvSpPr>
          <p:cNvPr id="6" name="No prerequisite difficulty found">
            <a:extLst xmlns:a="http://schemas.openxmlformats.org/drawingml/2006/main">
              <a:ext uri="{FF2B5EF4-FFF2-40B4-BE49-F238E27FC236}">
                <a16:creationId xmlns:a16="http://schemas.microsoft.com/office/drawing/2014/main" id="{290FE9F6-5D18-4F02-A4FD-AD0E8D34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No prerequisite difficulty found</a:t>
            </a:r>
          </a:p>
        </p:txBody>
      </p:sp>
      <p:sp>
        <p:nvSpPr>
          <p:cNvPr id="7" name="Inconclusive or outside coverage">
            <a:extLst xmlns:a="http://schemas.openxmlformats.org/drawingml/2006/main">
              <a:ext uri="{FF2B5EF4-FFF2-40B4-BE49-F238E27FC236}">
                <a16:creationId xmlns:a16="http://schemas.microsoft.com/office/drawing/2014/main" id="{627D7F86-DBDA-46E5-97DC-B19A167F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Inconclusive or outside coverage</a:t>
            </a:r>
          </a:p>
        </p:txBody>
      </p:sp>
      <p:sp>
        <p:nvSpPr>
          <p:cNvPr id="8" name="The learner can dispute the explanation">
            <a:extLst xmlns:a="http://schemas.openxmlformats.org/drawingml/2006/main">
              <a:ext uri="{FF2B5EF4-FFF2-40B4-BE49-F238E27FC236}">
                <a16:creationId xmlns:a16="http://schemas.microsoft.com/office/drawing/2014/main" id="{1E6EA87F-178F-4D56-9CB5-1CB3C541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learner can dispute the explanation</a:t>
            </a:r>
          </a:p>
        </p:txBody>
      </p:sp>
      <p:sp>
        <p:nvSpPr>
          <p:cNvPr id="9" name="Immediate check passed; retention untested">
            <a:extLst xmlns:a="http://schemas.openxmlformats.org/drawingml/2006/main">
              <a:ext uri="{FF2B5EF4-FFF2-40B4-BE49-F238E27FC236}">
                <a16:creationId xmlns:a16="http://schemas.microsoft.com/office/drawing/2014/main" id="{310A2304-6F49-43DE-B1FB-8A905B43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Immediate check passed; retention untested</a:t>
            </a:r>
          </a:p>
        </p:txBody>
      </p:sp>
    </p:spTree>
    <p:extLst>
      <p:ext uri="{BB962C8B-B14F-4D97-AF65-F5344CB8AC3E}">
        <p14:creationId xmlns:p14="http://schemas.microsoft.com/office/powerpoint/2010/main" val="417979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B6B67-1217-4667-93C9-41EA70D5A7A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410450" y="3181350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785A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6FEF2-EF2D-46DB-85F4-405839EBCF5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71850" y="3181350"/>
            <a:ext cx="1276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785A"/>
            </a:solidFill>
          </a:ln>
        </p:spPr>
      </p:cxnSp>
      <p:sp>
        <p:nvSpPr>
          <p:cNvPr id="15" name="Cline suggests the route">
            <a:extLst xmlns:a="http://schemas.openxmlformats.org/drawingml/2006/main">
              <a:ext uri="{FF2B5EF4-FFF2-40B4-BE49-F238E27FC236}">
                <a16:creationId xmlns:a16="http://schemas.microsoft.com/office/drawing/2014/main" id="{14FFC133-F502-4717-BCE3-A45A57B9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Cline suggests the route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01B5A-67F3-49A6-8EDF-C4169DAC0E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86bbe162848d7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088DBB7E-9CEE-4978-8A74-C8736084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3DAE561D-45F1-49B7-9D60-708DB26B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5" name="Code controls the evidence">
            <a:extLst xmlns:a="http://schemas.openxmlformats.org/drawingml/2006/main">
              <a:ext uri="{FF2B5EF4-FFF2-40B4-BE49-F238E27FC236}">
                <a16:creationId xmlns:a16="http://schemas.microsoft.com/office/drawing/2014/main" id="{171BCFE9-A403-4EBA-9CB0-0D180333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Code controls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1C593-729B-49BD-978A-F6077FEF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762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31453F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Student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CBE0F-A901-467B-970A-0F9A3223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2762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24785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Server grading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95EB1-6F79-4867-97C9-0D6D096D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57500"/>
            <a:ext cx="2857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19050">
            <a:solidFill>
              <a:srgbClr val="24785A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Evidence state</a:t>
            </a:r>
          </a:p>
        </p:txBody>
      </p:sp>
      <p:sp>
        <p:nvSpPr>
          <p:cNvPr id="11" name="Cline SDK suggestions">
            <a:extLst xmlns:a="http://schemas.openxmlformats.org/drawingml/2006/main">
              <a:ext uri="{FF2B5EF4-FFF2-40B4-BE49-F238E27FC236}">
                <a16:creationId xmlns:a16="http://schemas.microsoft.com/office/drawing/2014/main" id="{C4184103-1334-42F1-ABAD-98DE8EFB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C3D71"/>
                </a:solidFill>
                <a:latin typeface="Avenir Next"/>
                <a:ea typeface="Avenir Next"/>
                <a:cs typeface="Avenir Next"/>
              </a:rPr>
              <a:t>Cline SDK suggestions</a:t>
            </a:r>
          </a:p>
        </p:txBody>
      </p:sp>
      <p:sp>
        <p:nvSpPr>
          <p:cNvPr id="12" name="Probe order and repair choice&#10;Validated befor">
            <a:extLst xmlns:a="http://schemas.openxmlformats.org/drawingml/2006/main">
              <a:ext uri="{FF2B5EF4-FFF2-40B4-BE49-F238E27FC236}">
                <a16:creationId xmlns:a16="http://schemas.microsoft.com/office/drawing/2014/main" id="{E093C236-53AB-40CE-BF36-2D1CE81C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05300"/>
            <a:ext cx="687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Probe order and repair choice</a:t>
            </a:r>
          </a:p>
          <a:p xmlns:a="http://schemas.openxmlformats.org/drawingml/2006/main">
            <a:pPr algn="l">
              <a:def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Validated before use; deterministic fallback</a:t>
            </a:r>
          </a:p>
        </p:txBody>
      </p:sp>
      <p:sp>
        <p:nvSpPr>
          <p:cNvPr id="13" name="Also implemented: question-bank writer / solv">
            <a:extLst xmlns:a="http://schemas.openxmlformats.org/drawingml/2006/main">
              <a:ext uri="{FF2B5EF4-FFF2-40B4-BE49-F238E27FC236}">
                <a16:creationId xmlns:a16="http://schemas.microsoft.com/office/drawing/2014/main" id="{30BFCA37-4AD8-487E-B409-EC5E9B58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Also implemented: question-bank writer / solver pipeline with an approval gate</a:t>
            </a:r>
          </a:p>
        </p:txBody>
      </p:sp>
      <p:sp>
        <p:nvSpPr>
          <p:cNvPr id="14" name="Live model performance remains unverified in ">
            <a:extLst xmlns:a="http://schemas.openxmlformats.org/drawingml/2006/main">
              <a:ext uri="{FF2B5EF4-FFF2-40B4-BE49-F238E27FC236}">
                <a16:creationId xmlns:a16="http://schemas.microsoft.com/office/drawing/2014/main" id="{01630045-353C-470A-9946-7DB20473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Live model performance remains unverified in this snapshot</a:t>
            </a:r>
          </a:p>
        </p:txBody>
      </p:sp>
    </p:spTree>
    <p:extLst>
      <p:ext uri="{BB962C8B-B14F-4D97-AF65-F5344CB8AC3E}">
        <p14:creationId xmlns:p14="http://schemas.microsoft.com/office/powerpoint/2010/main" val="14612360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he core mechanism is implemented">
            <a:extLst xmlns:a="http://schemas.openxmlformats.org/drawingml/2006/main">
              <a:ext uri="{FF2B5EF4-FFF2-40B4-BE49-F238E27FC236}">
                <a16:creationId xmlns:a16="http://schemas.microsoft.com/office/drawing/2014/main" id="{21C4DB87-BA55-4583-97C3-3FAD54FD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The core mechanism is implemented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1C494-C222-4134-BACC-929782EE47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67cd061314043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88235A17-3391-446A-926E-5BDDC7F7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4CBB9930-DAC7-4976-BAB0-408E6557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5" name="9">
            <a:extLst xmlns:a="http://schemas.openxmlformats.org/drawingml/2006/main">
              <a:ext uri="{FF2B5EF4-FFF2-40B4-BE49-F238E27FC236}">
                <a16:creationId xmlns:a16="http://schemas.microsoft.com/office/drawing/2014/main" id="{12AC3275-B715-4E0B-B490-573BA683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6" name="concept nodes">
            <a:extLst xmlns:a="http://schemas.openxmlformats.org/drawingml/2006/main">
              <a:ext uri="{FF2B5EF4-FFF2-40B4-BE49-F238E27FC236}">
                <a16:creationId xmlns:a16="http://schemas.microsoft.com/office/drawing/2014/main" id="{2E61AA91-D5A6-42C1-8ACA-6CBD14EC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concept nodes</a:t>
            </a:r>
          </a:p>
        </p:txBody>
      </p:sp>
      <p:sp>
        <p:nvSpPr>
          <p:cNvPr id="7" name="27">
            <a:extLst xmlns:a="http://schemas.openxmlformats.org/drawingml/2006/main">
              <a:ext uri="{FF2B5EF4-FFF2-40B4-BE49-F238E27FC236}">
                <a16:creationId xmlns:a16="http://schemas.microsoft.com/office/drawing/2014/main" id="{1070976C-F259-46A4-9754-70EC99BA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27</a:t>
            </a:r>
          </a:p>
        </p:txBody>
      </p:sp>
      <p:sp>
        <p:nvSpPr>
          <p:cNvPr id="8" name="authored diagnostic entries">
            <a:extLst xmlns:a="http://schemas.openxmlformats.org/drawingml/2006/main">
              <a:ext uri="{FF2B5EF4-FFF2-40B4-BE49-F238E27FC236}">
                <a16:creationId xmlns:a16="http://schemas.microsoft.com/office/drawing/2014/main" id="{0A53E2FE-C422-4769-9C7A-BED30953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authored diagnostic entries</a:t>
            </a:r>
          </a:p>
        </p:txBody>
      </p:sp>
      <p:sp>
        <p:nvSpPr>
          <p:cNvPr id="9" name="247">
            <a:extLst xmlns:a="http://schemas.openxmlformats.org/drawingml/2006/main">
              <a:ext uri="{FF2B5EF4-FFF2-40B4-BE49-F238E27FC236}">
                <a16:creationId xmlns:a16="http://schemas.microsoft.com/office/drawing/2014/main" id="{8956F68F-C569-4B5A-A5FF-512C8CA4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247</a:t>
            </a:r>
          </a:p>
        </p:txBody>
      </p:sp>
      <p:sp>
        <p:nvSpPr>
          <p:cNvPr id="10" name="passing automated tests">
            <a:extLst xmlns:a="http://schemas.openxmlformats.org/drawingml/2006/main">
              <a:ext uri="{FF2B5EF4-FFF2-40B4-BE49-F238E27FC236}">
                <a16:creationId xmlns:a16="http://schemas.microsoft.com/office/drawing/2014/main" id="{3BF38C17-AA47-4B5D-B77D-90BDCF2B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passing automated tests</a:t>
            </a:r>
          </a:p>
        </p:txBody>
      </p:sp>
      <p:sp>
        <p:nvSpPr>
          <p:cNvPr id="11" name="0">
            <a:extLst xmlns:a="http://schemas.openxmlformats.org/drawingml/2006/main">
              <a:ext uri="{FF2B5EF4-FFF2-40B4-BE49-F238E27FC236}">
                <a16:creationId xmlns:a16="http://schemas.microsoft.com/office/drawing/2014/main" id="{2C994581-4C66-490F-B749-64E5B882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766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682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0</a:t>
            </a:r>
          </a:p>
        </p:txBody>
      </p:sp>
      <p:sp>
        <p:nvSpPr>
          <p:cNvPr id="12" name="final content approvals">
            <a:extLst xmlns:a="http://schemas.openxmlformats.org/drawingml/2006/main">
              <a:ext uri="{FF2B5EF4-FFF2-40B4-BE49-F238E27FC236}">
                <a16:creationId xmlns:a16="http://schemas.microsoft.com/office/drawing/2014/main" id="{1F1BD51D-94A6-4E1E-ADCB-B48C56FD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81575"/>
            <a:ext cx="500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final content approvals</a:t>
            </a:r>
          </a:p>
        </p:txBody>
      </p:sp>
      <p:sp>
        <p:nvSpPr>
          <p:cNvPr id="13" name="Controlled local prototype. Educator review a">
            <a:extLst xmlns:a="http://schemas.openxmlformats.org/drawingml/2006/main">
              <a:ext uri="{FF2B5EF4-FFF2-40B4-BE49-F238E27FC236}">
                <a16:creationId xmlns:a16="http://schemas.microsoft.com/office/drawing/2014/main" id="{334148C0-1548-4C2C-9F27-B6CCEB54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Controlled local prototype. Educator review and learner validation are next.</a:t>
            </a:r>
          </a:p>
        </p:txBody>
      </p:sp>
    </p:spTree>
    <p:extLst>
      <p:ext uri="{BB962C8B-B14F-4D97-AF65-F5344CB8AC3E}">
        <p14:creationId xmlns:p14="http://schemas.microsoft.com/office/powerpoint/2010/main" val="16490455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47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43923-37AE-41E3-A6E8-8EF7260A93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4bf3a790347f4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2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3B17D919-656A-4954-BC43-DF754DDE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A8C1B31D-2656-4689-9707-5A094409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4" name="A next study step&#10;the learner can explain">
            <a:extLst xmlns:a="http://schemas.openxmlformats.org/drawingml/2006/main">
              <a:ext uri="{FF2B5EF4-FFF2-40B4-BE49-F238E27FC236}">
                <a16:creationId xmlns:a16="http://schemas.microsoft.com/office/drawing/2014/main" id="{C1498049-4F95-4044-80AA-F60D5105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8108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A next study step</a:t>
            </a:r>
          </a:p>
          <a:p xmlns:a="http://schemas.openxmlformats.org/drawingml/2006/main">
            <a:pPr algn="l">
              <a:def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5175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the learner can explain</a:t>
            </a:r>
          </a:p>
        </p:txBody>
      </p:sp>
      <p:sp>
        <p:nvSpPr>
          <p:cNvPr id="5" name="Planned validation">
            <a:extLst xmlns:a="http://schemas.openxmlformats.org/drawingml/2006/main">
              <a:ext uri="{FF2B5EF4-FFF2-40B4-BE49-F238E27FC236}">
                <a16:creationId xmlns:a16="http://schemas.microsoft.com/office/drawing/2014/main" id="{F1B0102C-DBC7-449E-B195-A9AF7621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Planned validation</a:t>
            </a:r>
          </a:p>
        </p:txBody>
      </p:sp>
      <p:sp>
        <p:nvSpPr>
          <p:cNvPr id="6" name="Observe an adult learner complete the loop wi">
            <a:extLst xmlns:a="http://schemas.openxmlformats.org/drawingml/2006/main">
              <a:ext uri="{FF2B5EF4-FFF2-40B4-BE49-F238E27FC236}">
                <a16:creationId xmlns:a16="http://schemas.microsoft.com/office/drawing/2014/main" id="{93B6C070-A291-4954-A9DE-1A0C8BE9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Observe an adult learner complete the loop without coaching.</a:t>
            </a:r>
          </a:p>
          <a:p xmlns:a="http://schemas.openxmlformats.org/drawingml/2006/main">
            <a:pPr algn="l">
              <a:def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defRPr>
            </a:pPr>
            <a:r>
              <a:rPr sz="2175" b="0">
                <a:solidFill>
                  <a:srgbClr val="DCE7E4"/>
                </a:solidFill>
                <a:latin typeface="Avenir Next"/>
                <a:ea typeface="Avenir Next"/>
                <a:cs typeface="Avenir Next"/>
              </a:rPr>
              <a:t>Check whether the route improves their next study decision.</a:t>
            </a:r>
          </a:p>
        </p:txBody>
      </p:sp>
      <p:sp>
        <p:nvSpPr>
          <p:cNvPr id="7" name="Watch the controlled demo">
            <a:extLst xmlns:a="http://schemas.openxmlformats.org/drawingml/2006/main">
              <a:ext uri="{FF2B5EF4-FFF2-40B4-BE49-F238E27FC236}">
                <a16:creationId xmlns:a16="http://schemas.microsoft.com/office/drawing/2014/main" id="{29EAC1E3-51A9-45D3-BC94-FC101ABD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4F7F9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4F7F9"/>
                </a:solidFill>
                <a:latin typeface="Avenir Next"/>
                <a:ea typeface="Avenir Next"/>
                <a:cs typeface="Avenir Next"/>
              </a:rPr>
              <a:t>Watch the controlled demo</a:t>
            </a:r>
          </a:p>
        </p:txBody>
      </p:sp>
    </p:spTree>
    <p:extLst>
      <p:ext uri="{BB962C8B-B14F-4D97-AF65-F5344CB8AC3E}">
        <p14:creationId xmlns:p14="http://schemas.microsoft.com/office/powerpoint/2010/main" val="12522071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adiness and limits">
            <a:extLst xmlns:a="http://schemas.openxmlformats.org/drawingml/2006/main">
              <a:ext uri="{FF2B5EF4-FFF2-40B4-BE49-F238E27FC236}">
                <a16:creationId xmlns:a16="http://schemas.microsoft.com/office/drawing/2014/main" id="{BD4C1C02-C8BE-4D18-B47D-E48CC744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Readiness and limits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6FFEB-EB0F-409D-80F5-5A951984BD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80273e58f44b8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DA78AD4E-472E-4505-A0E9-BC252541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1ED86270-B27E-4B7F-9CB0-EFCB4FAC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5" name="Implemented">
            <a:extLst xmlns:a="http://schemas.openxmlformats.org/drawingml/2006/main">
              <a:ext uri="{FF2B5EF4-FFF2-40B4-BE49-F238E27FC236}">
                <a16:creationId xmlns:a16="http://schemas.microsoft.com/office/drawing/2014/main" id="{E10BA816-690E-4805-83AA-264CC4EC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Implemented</a:t>
            </a:r>
          </a:p>
        </p:txBody>
      </p:sp>
      <p:sp>
        <p:nvSpPr>
          <p:cNvPr id="6" name="Evidence engine, server grading, concept map,">
            <a:extLst xmlns:a="http://schemas.openxmlformats.org/drawingml/2006/main">
              <a:ext uri="{FF2B5EF4-FFF2-40B4-BE49-F238E27FC236}">
                <a16:creationId xmlns:a16="http://schemas.microsoft.com/office/drawing/2014/main" id="{C2D3BB38-2342-470C-9BE6-B5F5C313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1930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Evidence engine, server grading, concept map, profiles, review scheduling</a:t>
            </a:r>
          </a:p>
        </p:txBody>
      </p:sp>
      <p:sp>
        <p:nvSpPr>
          <p:cNvPr id="7" name="Content gate">
            <a:extLst xmlns:a="http://schemas.openxmlformats.org/drawingml/2006/main">
              <a:ext uri="{FF2B5EF4-FFF2-40B4-BE49-F238E27FC236}">
                <a16:creationId xmlns:a16="http://schemas.microsoft.com/office/drawing/2014/main" id="{FFB2E1B1-A14E-47C4-B768-24A83C9C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Content gate</a:t>
            </a:r>
          </a:p>
        </p:txBody>
      </p:sp>
      <p:sp>
        <p:nvSpPr>
          <p:cNvPr id="8" name="27 authored diagnostic entries plus 1 other e">
            <a:extLst xmlns:a="http://schemas.openxmlformats.org/drawingml/2006/main">
              <a:ext uri="{FF2B5EF4-FFF2-40B4-BE49-F238E27FC236}">
                <a16:creationId xmlns:a16="http://schemas.microsoft.com/office/drawing/2014/main" id="{04B109FB-48F7-4158-80F7-25A11F46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27 authored diagnostic entries plus 1 other entry; 0 final approvals</a:t>
            </a:r>
          </a:p>
        </p:txBody>
      </p:sp>
      <p:sp>
        <p:nvSpPr>
          <p:cNvPr id="9" name="Engineering">
            <a:extLst xmlns:a="http://schemas.openxmlformats.org/drawingml/2006/main">
              <a:ext uri="{FF2B5EF4-FFF2-40B4-BE49-F238E27FC236}">
                <a16:creationId xmlns:a16="http://schemas.microsoft.com/office/drawing/2014/main" id="{27947D7C-8AB4-4E32-9978-C51C429E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Engineering</a:t>
            </a:r>
          </a:p>
        </p:txBody>
      </p:sp>
      <p:sp>
        <p:nvSpPr>
          <p:cNvPr id="10" name="247 tests passed; TypeScript issues remain in">
            <a:extLst xmlns:a="http://schemas.openxmlformats.org/drawingml/2006/main">
              <a:ext uri="{FF2B5EF4-FFF2-40B4-BE49-F238E27FC236}">
                <a16:creationId xmlns:a16="http://schemas.microsoft.com/office/drawing/2014/main" id="{51738917-D806-4702-8FBB-67A5E95B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247 tests passed; TypeScript issues remain in script and test fixtures</a:t>
            </a:r>
          </a:p>
        </p:txBody>
      </p:sp>
      <p:sp>
        <p:nvSpPr>
          <p:cNvPr id="11" name="Still to verify">
            <a:extLst xmlns:a="http://schemas.openxmlformats.org/drawingml/2006/main">
              <a:ext uri="{FF2B5EF4-FFF2-40B4-BE49-F238E27FC236}">
                <a16:creationId xmlns:a16="http://schemas.microsoft.com/office/drawing/2014/main" id="{3948404E-0C50-41E7-AA77-D97199DE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Still to verify</a:t>
            </a:r>
          </a:p>
        </p:txBody>
      </p:sp>
      <p:sp>
        <p:nvSpPr>
          <p:cNvPr id="12" name="Live SDK performance, clean production build ">
            <a:extLst xmlns:a="http://schemas.openxmlformats.org/drawingml/2006/main">
              <a:ext uri="{FF2B5EF4-FFF2-40B4-BE49-F238E27FC236}">
                <a16:creationId xmlns:a16="http://schemas.microsoft.com/office/drawing/2014/main" id="{5E7B7278-075D-46DC-B98C-241746FC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6245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Live SDK performance, clean production build and learner outcomes</a:t>
            </a:r>
          </a:p>
        </p:txBody>
      </p:sp>
      <p:sp>
        <p:nvSpPr>
          <p:cNvPr id="13" name="Deployment">
            <a:extLst xmlns:a="http://schemas.openxmlformats.org/drawingml/2006/main">
              <a:ext uri="{FF2B5EF4-FFF2-40B4-BE49-F238E27FC236}">
                <a16:creationId xmlns:a16="http://schemas.microsoft.com/office/drawing/2014/main" id="{8F6B0726-7011-428B-8614-7ADF9B46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Deployment</a:t>
            </a:r>
          </a:p>
        </p:txBody>
      </p:sp>
      <p:sp>
        <p:nvSpPr>
          <p:cNvPr id="14" name="Local controlled prototype; AI access restric">
            <a:extLst xmlns:a="http://schemas.openxmlformats.org/drawingml/2006/main">
              <a:ext uri="{FF2B5EF4-FFF2-40B4-BE49-F238E27FC236}">
                <a16:creationId xmlns:a16="http://schemas.microsoft.com/office/drawing/2014/main" id="{1F6239BF-83C4-40F1-8237-90063C67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Local controlled prototype; AI access restricted to adults</a:t>
            </a:r>
          </a:p>
        </p:txBody>
      </p:sp>
    </p:spTree>
    <p:extLst>
      <p:ext uri="{BB962C8B-B14F-4D97-AF65-F5344CB8AC3E}">
        <p14:creationId xmlns:p14="http://schemas.microsoft.com/office/powerpoint/2010/main" val="18862959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ources and evidence definitions">
            <a:extLst xmlns:a="http://schemas.openxmlformats.org/drawingml/2006/main">
              <a:ext uri="{FF2B5EF4-FFF2-40B4-BE49-F238E27FC236}">
                <a16:creationId xmlns:a16="http://schemas.microsoft.com/office/drawing/2014/main" id="{00772590-8DA8-4C17-80F9-7920C993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858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Sources and evidence definitions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437D5-4203-4E49-93D7-744EB49E85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3710c1da34dac"/>
          <a:stretch xmlns:a="http://schemas.openxmlformats.org/drawingml/2006/main"/>
        </p:blipFill>
        <p:spPr>
          <a:xfrm xmlns:a="http://schemas.openxmlformats.org/drawingml/2006/main">
            <a:off x="609615" y="6324600"/>
            <a:ext cx="219045" cy="231562"/>
          </a:xfrm>
          <a:prstGeom xmlns:a="http://schemas.openxmlformats.org/drawingml/2006/main" prst="rect">
            <a:avLst/>
          </a:prstGeom>
        </p:spPr>
      </p:pic>
      <p:sp>
        <p:nvSpPr>
          <p:cNvPr id="3" name="conceptmentor">
            <a:extLst xmlns:a="http://schemas.openxmlformats.org/drawingml/2006/main">
              <a:ext uri="{FF2B5EF4-FFF2-40B4-BE49-F238E27FC236}">
                <a16:creationId xmlns:a16="http://schemas.microsoft.com/office/drawing/2014/main" id="{99396257-CF87-401D-B862-90C7A2D6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43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conceptmentor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2C20F882-2676-44F3-9955-E1842EA4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6696E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5" name="NTA  ·  JEE Main 2026">
            <a:extLst xmlns:a="http://schemas.openxmlformats.org/drawingml/2006/main">
              <a:ext uri="{FF2B5EF4-FFF2-40B4-BE49-F238E27FC236}">
                <a16:creationId xmlns:a16="http://schemas.microsoft.com/office/drawing/2014/main" id="{71B6B65A-901D-4A42-A94D-E3CAA9E3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NTA  ·  JEE Main 2026</a:t>
            </a:r>
          </a:p>
        </p:txBody>
      </p:sp>
      <p:sp>
        <p:nvSpPr>
          <p:cNvPr id="6" name="Unique registrations across both sessions, pr">
            <a:extLst xmlns:a="http://schemas.openxmlformats.org/drawingml/2006/main">
              <a:ext uri="{FF2B5EF4-FFF2-40B4-BE49-F238E27FC236}">
                <a16:creationId xmlns:a16="http://schemas.microsoft.com/office/drawing/2014/main" id="{AE3F367C-6C54-49ED-A760-2526527C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Unique registrations across both sessions, press release 20 April 2026</a:t>
            </a:r>
          </a:p>
        </p:txBody>
      </p:sp>
      <p:sp>
        <p:nvSpPr>
          <p:cNvPr id="7" name="Official NTA press release">
            <a:extLst xmlns:a="http://schemas.openxmlformats.org/drawingml/2006/main">
              <a:ext uri="{FF2B5EF4-FFF2-40B4-BE49-F238E27FC236}">
                <a16:creationId xmlns:a16="http://schemas.microsoft.com/office/drawing/2014/main" id="{107C1A84-78F3-40A9-8440-FC86AB0D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43e42cc9abd0448d"/>
              </a:rPr>
              <a:t>Official NTA press release</a:t>
            </a:r>
          </a:p>
        </p:txBody>
      </p:sp>
      <p:sp>
        <p:nvSpPr>
          <p:cNvPr id="8" name="ASER 2024  ·  National findings, pp. 47–48">
            <a:extLst xmlns:a="http://schemas.openxmlformats.org/drawingml/2006/main">
              <a:ext uri="{FF2B5EF4-FFF2-40B4-BE49-F238E27FC236}">
                <a16:creationId xmlns:a16="http://schemas.microsoft.com/office/drawing/2014/main" id="{EDE66B4C-1B60-4799-A34D-2B6324EA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ASER 2024  ·  National findings, pp. 47–48</a:t>
            </a:r>
          </a:p>
        </p:txBody>
      </p:sp>
      <p:sp>
        <p:nvSpPr>
          <p:cNvPr id="9" name="Rural Class VIII division assessment. This do">
            <a:extLst xmlns:a="http://schemas.openxmlformats.org/drawingml/2006/main">
              <a:ext uri="{FF2B5EF4-FFF2-40B4-BE49-F238E27FC236}">
                <a16:creationId xmlns:a16="http://schemas.microsoft.com/office/drawing/2014/main" id="{443A4E4F-F21F-4098-8D8C-D2A5E70A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Rural Class VIII division assessment. This does not measure JEE aspirants.</a:t>
            </a:r>
          </a:p>
        </p:txBody>
      </p:sp>
      <p:sp>
        <p:nvSpPr>
          <p:cNvPr id="10" name="Official ASER national findings">
            <a:extLst xmlns:a="http://schemas.openxmlformats.org/drawingml/2006/main">
              <a:ext uri="{FF2B5EF4-FFF2-40B4-BE49-F238E27FC236}">
                <a16:creationId xmlns:a16="http://schemas.microsoft.com/office/drawing/2014/main" id="{1AF14484-7B1B-4F26-B20C-A35EB543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C3D71"/>
                </a:solidFill>
                <a:latin typeface="Avenir Next"/>
                <a:ea typeface="Avenir Next"/>
                <a:cs typeface="Avenir Next"/>
                <a:hlinkClick xmlns:r="http://schemas.openxmlformats.org/officeDocument/2006/relationships" r:id="R16e1368561fa4ea0"/>
              </a:rPr>
              <a:t>Official ASER national findings</a:t>
            </a:r>
          </a:p>
        </p:txBody>
      </p:sp>
      <p:sp>
        <p:nvSpPr>
          <p:cNvPr id="11" name="Local implementation snapshot  ·  10 October ">
            <a:extLst xmlns:a="http://schemas.openxmlformats.org/drawingml/2006/main">
              <a:ext uri="{FF2B5EF4-FFF2-40B4-BE49-F238E27FC236}">
                <a16:creationId xmlns:a16="http://schemas.microsoft.com/office/drawing/2014/main" id="{48DC9AD6-F7D6-44D3-9855-06918437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24785A"/>
                </a:solidFill>
                <a:latin typeface="Avenir Next"/>
                <a:ea typeface="Avenir Next"/>
                <a:cs typeface="Avenir Next"/>
              </a:rPr>
              <a:t>Local implementation snapshot  ·  10 October 2026</a:t>
            </a:r>
          </a:p>
        </p:txBody>
      </p:sp>
      <p:sp>
        <p:nvSpPr>
          <p:cNvPr id="12" name="Implementation counts describe scope. Learner">
            <a:extLst xmlns:a="http://schemas.openxmlformats.org/drawingml/2006/main">
              <a:ext uri="{FF2B5EF4-FFF2-40B4-BE49-F238E27FC236}">
                <a16:creationId xmlns:a16="http://schemas.microsoft.com/office/drawing/2014/main" id="{969F7B39-177F-43E1-A6A0-7DC11608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31453F"/>
                </a:solidFill>
                <a:latin typeface="Avenir Next"/>
                <a:ea typeface="Avenir Next"/>
                <a:cs typeface="Avenir Next"/>
              </a:rPr>
              <a:t>Implementation counts describe scope. Learner efficacy remains unvalidated.</a:t>
            </a:r>
          </a:p>
        </p:txBody>
      </p:sp>
    </p:spTree>
    <p:extLst>
      <p:ext uri="{BB962C8B-B14F-4D97-AF65-F5344CB8AC3E}">
        <p14:creationId xmlns:p14="http://schemas.microsoft.com/office/powerpoint/2010/main" val="1937126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2026-10-10T14:04:08.3570000Z</dcterms:created>
  <dcterms:modified xsi:type="dcterms:W3CDTF">2026-10-10T14:04:08.3570000Z</dcterms:modified>
</coreProperties>
</file>