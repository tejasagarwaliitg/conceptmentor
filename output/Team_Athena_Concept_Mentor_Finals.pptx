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49a8e7c5a45e5" /><Relationship Type="http://schemas.openxmlformats.org/officeDocument/2006/relationships/extended-properties" Target="/docProps/app.xml" Id="Rc1898e9a99604078" /><Relationship Type="http://schemas.openxmlformats.org/officeDocument/2006/relationships/officeDocument" Target="/ppt/presentation.xml" Id="Rcd4db013fbed46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8ef5cbda564564"/>
  </p:sldMasterIdLst>
  <p:notesMasterIdLst>
    <p:notesMasterId xmlns:r="http://schemas.openxmlformats.org/officeDocument/2006/relationships" r:id="Rbc6731f11ffa4330"/>
  </p:notesMasterIdLst>
  <p:sldIdLst>
    <p:sldId xmlns:r="http://schemas.openxmlformats.org/officeDocument/2006/relationships" id="256" r:id="R7d9a76dc78e14c86"/>
    <p:sldId xmlns:r="http://schemas.openxmlformats.org/officeDocument/2006/relationships" id="257" r:id="Re986d6fea2ea42b4"/>
    <p:sldId xmlns:r="http://schemas.openxmlformats.org/officeDocument/2006/relationships" id="258" r:id="R33d67b8a4c694e53"/>
    <p:sldId xmlns:r="http://schemas.openxmlformats.org/officeDocument/2006/relationships" id="259" r:id="R9ad55070b5f74b15"/>
    <p:sldId xmlns:r="http://schemas.openxmlformats.org/officeDocument/2006/relationships" id="260" r:id="R32b3212e94624a45"/>
    <p:sldId xmlns:r="http://schemas.openxmlformats.org/officeDocument/2006/relationships" id="261" r:id="Rdb7ca4c77126415e"/>
    <p:sldId xmlns:r="http://schemas.openxmlformats.org/officeDocument/2006/relationships" id="262" r:id="R6ea8d275514c4611"/>
    <p:sldId xmlns:r="http://schemas.openxmlformats.org/officeDocument/2006/relationships" id="263" r:id="Rff5345f4777f40d1"/>
    <p:sldId xmlns:r="http://schemas.openxmlformats.org/officeDocument/2006/relationships" id="264" r:id="Ra442840aaf4c4272"/>
    <p:sldId xmlns:r="http://schemas.openxmlformats.org/officeDocument/2006/relationships" id="265" r:id="R8ff4eba4c11049a2"/>
    <p:sldId xmlns:r="http://schemas.openxmlformats.org/officeDocument/2006/relationships" id="266" r:id="R010b3a72c26b4b9f"/>
    <p:sldId xmlns:r="http://schemas.openxmlformats.org/officeDocument/2006/relationships" id="267" r:id="Rc00d62fcd7ef43c6"/>
    <p:sldId xmlns:r="http://schemas.openxmlformats.org/officeDocument/2006/relationships" id="268" r:id="R9476730b4754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5414d5a624f42" /><Relationship Type="http://schemas.openxmlformats.org/officeDocument/2006/relationships/slideMaster" Target="/ppt/slideMasters/slideMaster1.xml" Id="R208ef5cbda564564" /><Relationship Type="http://schemas.openxmlformats.org/officeDocument/2006/relationships/notesMaster" Target="/ppt/notesMasters/notesMaster1.xml" Id="Rbc6731f11ffa4330" /><Relationship Type="http://schemas.openxmlformats.org/officeDocument/2006/relationships/presProps" Target="/ppt/presProps.xml" Id="R6f442c1edb3648fc" /><Relationship Type="http://schemas.openxmlformats.org/officeDocument/2006/relationships/tableStyles" Target="/ppt/tableStyles.xml" Id="Rf1b903f8814a458b" /><Relationship Type="http://schemas.openxmlformats.org/officeDocument/2006/relationships/slide" Target="/ppt/slides/slide1.xml" Id="R7d9a76dc78e14c86" /><Relationship Type="http://schemas.openxmlformats.org/officeDocument/2006/relationships/slide" Target="/ppt/slides/slide2.xml" Id="Re986d6fea2ea42b4" /><Relationship Type="http://schemas.openxmlformats.org/officeDocument/2006/relationships/slide" Target="/ppt/slides/slide3.xml" Id="R33d67b8a4c694e53" /><Relationship Type="http://schemas.openxmlformats.org/officeDocument/2006/relationships/slide" Target="/ppt/slides/slide4.xml" Id="R9ad55070b5f74b15" /><Relationship Type="http://schemas.openxmlformats.org/officeDocument/2006/relationships/slide" Target="/ppt/slides/slide5.xml" Id="R32b3212e94624a45" /><Relationship Type="http://schemas.openxmlformats.org/officeDocument/2006/relationships/slide" Target="/ppt/slides/slide6.xml" Id="Rdb7ca4c77126415e" /><Relationship Type="http://schemas.openxmlformats.org/officeDocument/2006/relationships/slide" Target="/ppt/slides/slide7.xml" Id="R6ea8d275514c4611" /><Relationship Type="http://schemas.openxmlformats.org/officeDocument/2006/relationships/slide" Target="/ppt/slides/slide8.xml" Id="Rff5345f4777f40d1" /><Relationship Type="http://schemas.openxmlformats.org/officeDocument/2006/relationships/slide" Target="/ppt/slides/slide9.xml" Id="Ra442840aaf4c4272" /><Relationship Type="http://schemas.openxmlformats.org/officeDocument/2006/relationships/slide" Target="/ppt/slides/slide10.xml" Id="R8ff4eba4c11049a2" /><Relationship Type="http://schemas.openxmlformats.org/officeDocument/2006/relationships/slide" Target="/ppt/slides/slide11.xml" Id="R010b3a72c26b4b9f" /><Relationship Type="http://schemas.openxmlformats.org/officeDocument/2006/relationships/slide" Target="/ppt/slides/slide12.xml" Id="Rc00d62fcd7ef43c6" /><Relationship Type="http://schemas.openxmlformats.org/officeDocument/2006/relationships/slide" Target="/ppt/slides/slide13.xml" Id="R9476730b4754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68d26daf0f4b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653781934487b" /><Relationship Type="http://schemas.openxmlformats.org/officeDocument/2006/relationships/notesMaster" Target="/ppt/notesMasters/notesMaster1.xml" Id="R89d50995749443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c4f23e52b34666" /><Relationship Type="http://schemas.openxmlformats.org/officeDocument/2006/relationships/notesMaster" Target="/ppt/notesMasters/notesMaster1.xml" Id="R4dc1fec914ab49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b1a452bb04e4a" /><Relationship Type="http://schemas.openxmlformats.org/officeDocument/2006/relationships/notesMaster" Target="/ppt/notesMasters/notesMaster1.xml" Id="Rafd7d1ce7a8b40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ee5ae71ef54ccd" /><Relationship Type="http://schemas.openxmlformats.org/officeDocument/2006/relationships/notesMaster" Target="/ppt/notesMasters/notesMaster1.xml" Id="Ra2edc3629631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dbbbe7ca7f4738" /><Relationship Type="http://schemas.openxmlformats.org/officeDocument/2006/relationships/notesMaster" Target="/ppt/notesMasters/notesMaster1.xml" Id="Rbdaf764d4d8248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8f809f2e624939" /><Relationship Type="http://schemas.openxmlformats.org/officeDocument/2006/relationships/notesMaster" Target="/ppt/notesMasters/notesMaster1.xml" Id="R8a3b3158b450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24b1e771404966" /><Relationship Type="http://schemas.openxmlformats.org/officeDocument/2006/relationships/notesMaster" Target="/ppt/notesMasters/notesMaster1.xml" Id="R19813faad09d48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47936127b64059" /><Relationship Type="http://schemas.openxmlformats.org/officeDocument/2006/relationships/notesMaster" Target="/ppt/notesMasters/notesMaster1.xml" Id="R3704281e74df4c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cd3e482ed54483" /><Relationship Type="http://schemas.openxmlformats.org/officeDocument/2006/relationships/notesMaster" Target="/ppt/notesMasters/notesMaster1.xml" Id="R84858f6dc373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f212a49914607" /><Relationship Type="http://schemas.openxmlformats.org/officeDocument/2006/relationships/notesMaster" Target="/ppt/notesMasters/notesMaster1.xml" Id="Rc3d0c722c5644f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22980b14464623" /><Relationship Type="http://schemas.openxmlformats.org/officeDocument/2006/relationships/notesMaster" Target="/ppt/notesMasters/notesMaster1.xml" Id="R1b093d1acaea44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f04b76b5fd405c" /><Relationship Type="http://schemas.openxmlformats.org/officeDocument/2006/relationships/notesMaster" Target="/ppt/notesMasters/notesMaster1.xml" Id="R362d15e9328e42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f6fcef17ba426c" /><Relationship Type="http://schemas.openxmlformats.org/officeDocument/2006/relationships/notesMaster" Target="/ppt/notesMasters/notesMaster1.xml" Id="Rdc41ecb25481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Mentor is a controlled local JEE foundations prototype. The core uses deterministic evidence rules. No learner-outcome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National Testing Agency, press release 20 April 2026. https://www.nta.ac.in/Download/Notice/Notice_20260420194021.pdf . 1,604,854 unique candidates registered across January/April JEE Main 2026. Registered is not appeared. Scale does not establish product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ASER 2024 National findings, printed pp47–48. https://asercentre.org/wp-content/uploads/2022/12/ASER-2024-National-findings.pdf . Rural Class VIII students able to do assessed basic division: 44.1% (2018), 44.7% (2022), 45.8% (2024). These are not JEE aspirants. Do not extrapolate prevalence to the target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wrong projectile-motion answer can reflect prerequisite difficulty, a problem applying a known idea, a wrong model or a misread condition. This is a reasoning illustration, not an observed learner result. A score alone cannot distinguish these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app screenshot captured for this presentation. Guest mode with no learner history. Loop: wrong-question or topic entry, bounded prerequisite checks, honest outcome, targeted contrast and NCERT/teacher routing, immediate recheck and later review. Coverage is nine concept nodes, subject to content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mechanism, not an approved bank item: force magnitude 10 N. If angle 30 degrees is from horizontal, horizontal component is 10 cos(30 degrees). If angle is from vertical, horizontal component is 10 sin(30 degrees). Knowing a familiar formula is different from identifying its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illustrative prerequisite path, not an observed user result. Actual graph relationships: projectile depends on vector components and 1D kinematics. Vector components depend on trig and vector basics. The simplified diagram highlights the components branch only. Right: actual local concept-map interface, guest mode, not learner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permits suspected contributing gap, no prerequisite difficulty found, inconclusive, out of coverage and student-disputed outcomes. A successful immediate repair check establishes immediate performance only. No diagnostic certainty or retention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implementation sources: app/lib/mentor/run.ts, schemas.ts and tools.ts; app/lib/items.ts and app/lib/probe.ts. Bounded Cline SDK agents suggest entry/probe ordering/repair choice from structured context. Validation accepts a permitted suggestion or falls back. Only graded evidence changes state. Question-bank writer/solver code exists; human approval remains separate. Live model performance was not verified in this presentation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snapshot 10 October 2026: GRAPH has 9 nodes; content/qbank.json has 28 entries, including 27 authored diagnostic entries (9 A, 9 B1, 9 B2) and one additional verified entry. No bank entry has final status approved plus approvedBy. Current test run passed 247 tests across 28 files. TypeScript errors remain in a bank script/test fixtures. Neither unit tests nor bank counts establish learner gains, live integration success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planned validation step, not an existing pilot or measured result. Observe adult learners completing a diagnosis-to-recheck loop without coaching. Measure completion, abandonment, ability to explain the next action and later changed-context performance. Compare with the learner’s usual approach before claiming learning or efficiency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snapshot 10 October 2026. Product source files and current vitest / TypeScript results. AI mode remains controlled adult-only. Provider suitability for minors remains an open gate. No legal compliance, school readiness or public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NTA: https://www.nta.ac.in/Download/Notice/Notice_20260420194021.pdf . ASER: https://asercentre.org/wp-content/uploads/2022/12/ASER-2024-National-findings.pdf . Local: app/content/graph.ts, app/content/qbank.json, app/lib/items.ts, app/lib/probe.ts, app/lib/mentor/run.ts and 10 Oct 2026 test/type-check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d7ad6414a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1536ef49349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c1b745b464f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7464a19344d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084ee8ff443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ed396f8cd49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C985CF-31E8-439B-8BED-62E727C4F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470E1A-C897-4E1B-97F1-616F480740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1B0288-1731-4B59-A0E2-2738AF5F9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233E9-F792-4616-8B42-248C41AB1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275AAC-BF6E-4684-9086-A38A49F192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F745E9-44C4-4CBA-8926-3575E8FE7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613CAE-2040-49DF-AA9F-E10B0088E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3308B8-F0E6-478A-8B26-9FB36EF286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232DE8-AEB5-450C-8E38-FEFCE21B5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D18C7C-77A0-4248-A523-61CD90CC2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8ec6ec9e44447" /><Relationship Type="http://schemas.openxmlformats.org/officeDocument/2006/relationships/slideLayout" Target="/ppt/slideLayouts/slideLayout1.xml" Id="Rf418fa2884764f26" /><Relationship Type="http://schemas.openxmlformats.org/officeDocument/2006/relationships/slideLayout" Target="/ppt/slideLayouts/slideLayout2.xml" Id="Re70d94251cdd4dd9" /><Relationship Type="http://schemas.openxmlformats.org/officeDocument/2006/relationships/slideLayout" Target="/ppt/slideLayouts/slideLayout3.xml" Id="R9693a618dfa74c81" /><Relationship Type="http://schemas.openxmlformats.org/officeDocument/2006/relationships/slideLayout" Target="/ppt/slideLayouts/slideLayout4.xml" Id="Rd787f7d6b0d04bf3" /><Relationship Type="http://schemas.openxmlformats.org/officeDocument/2006/relationships/slideLayout" Target="/ppt/slideLayouts/slideLayout5.xml" Id="R916cc3aaae9e4e5a" /><Relationship Type="http://schemas.openxmlformats.org/officeDocument/2006/relationships/slideLayout" Target="/ppt/slideLayouts/slideLayout6.xml" Id="R65e5aa4207d7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8fa2884764f26"/>
    <p:sldLayoutId xmlns:r="http://schemas.openxmlformats.org/officeDocument/2006/relationships" id="2147483650" r:id="Re70d94251cdd4dd9"/>
    <p:sldLayoutId xmlns:r="http://schemas.openxmlformats.org/officeDocument/2006/relationships" id="2147483651" r:id="R9693a618dfa74c81"/>
    <p:sldLayoutId xmlns:r="http://schemas.openxmlformats.org/officeDocument/2006/relationships" id="2147483652" r:id="Rd787f7d6b0d04bf3"/>
    <p:sldLayoutId xmlns:r="http://schemas.openxmlformats.org/officeDocument/2006/relationships" id="2147483653" r:id="R916cc3aaae9e4e5a"/>
    <p:sldLayoutId xmlns:r="http://schemas.openxmlformats.org/officeDocument/2006/relationships" id="2147483654" r:id="R65e5aa4207d7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6de6c08224704" /><Relationship Type="http://schemas.openxmlformats.org/officeDocument/2006/relationships/image" Target="/ppt/media/image.png" Id="R8acaa12e1c094dda" /><Relationship Type="http://schemas.openxmlformats.org/officeDocument/2006/relationships/image" Target="/ppt/media/image2.png" Id="R8df4ba795e25435f" /><Relationship Type="http://schemas.openxmlformats.org/officeDocument/2006/relationships/notesSlide" Target="/ppt/notesSlides/notesSlide1.xml" Id="R2c6d9538d1d2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ad42c7e924757" /><Relationship Type="http://schemas.openxmlformats.org/officeDocument/2006/relationships/image" Target="/ppt/media/image3.png" Id="Rde8930bbb5dd49c3" /><Relationship Type="http://schemas.openxmlformats.org/officeDocument/2006/relationships/notesSlide" Target="/ppt/notesSlides/notesSlide2.xml" Id="R5cdecbbc8e85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9c46bdb80429d" /><Relationship Type="http://schemas.openxmlformats.org/officeDocument/2006/relationships/image" Target="/ppt/media/image4.png" Id="Ra31bd240322641c3" /><Relationship Type="http://schemas.openxmlformats.org/officeDocument/2006/relationships/chart" Target="/ppt/slides/charts/chart1.xml" Id="R8978956d4d36443b" /><Relationship Type="http://schemas.openxmlformats.org/officeDocument/2006/relationships/notesSlide" Target="/ppt/notesSlides/notesSlide3.xml" Id="Rdeef285bbc41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d5c36dee9c47ac" /><Relationship Type="http://schemas.openxmlformats.org/officeDocument/2006/relationships/image" Target="/ppt/media/image5.png" Id="R821b0ec8144e429b" /><Relationship Type="http://schemas.openxmlformats.org/officeDocument/2006/relationships/notesSlide" Target="/ppt/notesSlides/notesSlide4.xml" Id="Rd00fc8f96f8e4c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a005e4bd04e83" /><Relationship Type="http://schemas.openxmlformats.org/officeDocument/2006/relationships/image" Target="/ppt/media/image6.png" Id="R7410f08d92c6422a" /><Relationship Type="http://schemas.openxmlformats.org/officeDocument/2006/relationships/image" Target="/ppt/media/image7.png" Id="R3d4bf557f4b745ba" /><Relationship Type="http://schemas.openxmlformats.org/officeDocument/2006/relationships/notesSlide" Target="/ppt/notesSlides/notesSlide5.xml" Id="R0ab06d3b316249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0e0bd14244ecd" /><Relationship Type="http://schemas.openxmlformats.org/officeDocument/2006/relationships/image" Target="/ppt/media/image8.png" Id="R100664d39f3442c3" /><Relationship Type="http://schemas.openxmlformats.org/officeDocument/2006/relationships/notesSlide" Target="/ppt/notesSlides/notesSlide6.xml" Id="Rac857f5aef8042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85597d77c4c04" /><Relationship Type="http://schemas.openxmlformats.org/officeDocument/2006/relationships/image" Target="/ppt/media/image9.png" Id="Rc9c83cef159d4eaa" /><Relationship Type="http://schemas.openxmlformats.org/officeDocument/2006/relationships/image" Target="/ppt/media/image10.png" Id="Rc18459547a6744e9" /><Relationship Type="http://schemas.openxmlformats.org/officeDocument/2006/relationships/notesSlide" Target="/ppt/notesSlides/notesSlide7.xml" Id="R6af2f964d119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5be296363415f" /><Relationship Type="http://schemas.openxmlformats.org/officeDocument/2006/relationships/image" Target="/ppt/media/image11.png" Id="Rc634bd9021e842ff" /><Relationship Type="http://schemas.openxmlformats.org/officeDocument/2006/relationships/notesSlide" Target="/ppt/notesSlides/notesSlide8.xml" Id="Rc8f96cd86d2c42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17145eeea4330" /><Relationship Type="http://schemas.openxmlformats.org/officeDocument/2006/relationships/image" Target="/ppt/media/image12.png" Id="Rdf4b62659eff47c0" /><Relationship Type="http://schemas.openxmlformats.org/officeDocument/2006/relationships/notesSlide" Target="/ppt/notesSlides/notesSlide9.xml" Id="R26ad974d252e4e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7b1ae91f34e9e" /><Relationship Type="http://schemas.openxmlformats.org/officeDocument/2006/relationships/image" Target="/ppt/media/image13.png" Id="Re37ad2f26b6740af" /><Relationship Type="http://schemas.openxmlformats.org/officeDocument/2006/relationships/notesSlide" Target="/ppt/notesSlides/notesSlide10.xml" Id="Rb4936bdb3fdf46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7bd61c53c4735" /><Relationship Type="http://schemas.openxmlformats.org/officeDocument/2006/relationships/image" Target="/ppt/media/image14.png" Id="Rd801e3076b8c4619" /><Relationship Type="http://schemas.openxmlformats.org/officeDocument/2006/relationships/notesSlide" Target="/ppt/notesSlides/notesSlide11.xml" Id="Rbc4e1eb8022a42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dea1044b540ae" /><Relationship Type="http://schemas.openxmlformats.org/officeDocument/2006/relationships/image" Target="/ppt/media/image15.png" Id="Rac2ad08ab0ae4595" /><Relationship Type="http://schemas.openxmlformats.org/officeDocument/2006/relationships/notesSlide" Target="/ppt/notesSlides/notesSlide12.xml" Id="R791de92110a24c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a492f4f4f4e83" /><Relationship Type="http://schemas.openxmlformats.org/officeDocument/2006/relationships/image" Target="/ppt/media/image16.png" Id="R34f7e2eb2dcc4566" /><Relationship Type="http://schemas.openxmlformats.org/officeDocument/2006/relationships/hyperlink" Target="https://www.nta.ac.in/Download/Notice/Notice_20260420194021.pdf" TargetMode="External" Id="R67c60de94e254ae4" /><Relationship Type="http://schemas.openxmlformats.org/officeDocument/2006/relationships/hyperlink" Target="https://asercentre.org/wp-content/uploads/2022/12/ASER-2024-National-findings.pdf" TargetMode="External" Id="Re968a01be4624091" /><Relationship Type="http://schemas.openxmlformats.org/officeDocument/2006/relationships/notesSlide" Target="/ppt/notesSlides/notesSlide13.xml" Id="R8149fdcb994845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Can do assessed division</c:v>
          </c:tx>
          <c:spPr>
            <a:solidFill xmlns:a="http://schemas.openxmlformats.org/drawingml/2006/main">
              <a:srgbClr val="24785A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2018</c:v>
                </c:pt>
                <c:pt idx="1">
                  <c:v>2022</c:v>
                </c:pt>
                <c:pt idx="2">
                  <c:v>2024</c:v>
                </c:pt>
              </c:numCache>
            </c:num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44.1</c:v>
                </c:pt>
                <c:pt idx="1">
                  <c:v>44.7</c:v>
                </c:pt>
                <c:pt idx="2">
                  <c:v>45.8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1453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4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9"/>
        </a:solidFill>
      </c:spPr>
    </c:plotArea>
    <c:plotVisOnly val="1"/>
  </c:chart>
  <c:spPr>
    <a:solidFill xmlns:a="http://schemas.openxmlformats.org/drawingml/2006/main">
      <a:srgbClr val="F4F7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3568F-032B-40AD-BEBB-DEE010854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aa12e1c094dda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01D8379F-4A23-4911-93E7-47EB66C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26DBB1B-EF0F-406E-B34D-8A599E8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57DAF-5C47-4E1C-B333-41A3CE7C4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4ba795e25435f"/>
          <a:stretch xmlns:a="http://schemas.openxmlformats.org/drawingml/2006/main"/>
        </p:blipFill>
        <p:spPr>
          <a:xfrm xmlns:a="http://schemas.openxmlformats.org/drawingml/2006/main">
            <a:off x="609636" y="619125"/>
            <a:ext cx="533328" cy="563804"/>
          </a:xfrm>
          <a:prstGeom xmlns:a="http://schemas.openxmlformats.org/drawingml/2006/main" prst="rect">
            <a:avLst/>
          </a:prstGeom>
        </p:spPr>
      </p:pic>
      <p:sp>
        <p:nvSpPr>
          <p:cNvPr id="5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5654F37B-4732-4065-BD38-D9AA7B7B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381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6" name="A clearer next step&#10;after a wrong answer">
            <a:extLst xmlns:a="http://schemas.openxmlformats.org/drawingml/2006/main">
              <a:ext uri="{FF2B5EF4-FFF2-40B4-BE49-F238E27FC236}">
                <a16:creationId xmlns:a16="http://schemas.microsoft.com/office/drawing/2014/main" id="{3183E7D3-0C34-4F16-9D1D-8AC58505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clearer next step</a:t>
            </a:r>
          </a:p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after a wrong answer</a:t>
            </a:r>
          </a:p>
        </p:txBody>
      </p:sp>
      <p:sp>
        <p:nvSpPr>
          <p:cNvPr id="7" name="JEE physics and mathematics diagnosis">
            <a:extLst xmlns:a="http://schemas.openxmlformats.org/drawingml/2006/main">
              <a:ext uri="{FF2B5EF4-FFF2-40B4-BE49-F238E27FC236}">
                <a16:creationId xmlns:a16="http://schemas.microsoft.com/office/drawing/2014/main" id="{5CB2434C-66F3-4FCE-8484-8A7B37E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JEE physics and mathematics diagnosis</a:t>
            </a:r>
          </a:p>
        </p:txBody>
      </p:sp>
      <p:sp>
        <p:nvSpPr>
          <p:cNvPr id="8" name="Team Athena">
            <a:extLst xmlns:a="http://schemas.openxmlformats.org/drawingml/2006/main">
              <a:ext uri="{FF2B5EF4-FFF2-40B4-BE49-F238E27FC236}">
                <a16:creationId xmlns:a16="http://schemas.microsoft.com/office/drawing/2014/main" id="{8FAC1DA1-D73A-4CDE-9074-1EB4EE4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Team Athena</a:t>
            </a:r>
          </a:p>
        </p:txBody>
      </p:sp>
      <p:sp>
        <p:nvSpPr>
          <p:cNvPr id="9" name="Cline Hackathon Finals">
            <a:extLst xmlns:a="http://schemas.openxmlformats.org/drawingml/2006/main">
              <a:ext uri="{FF2B5EF4-FFF2-40B4-BE49-F238E27FC236}">
                <a16:creationId xmlns:a16="http://schemas.microsoft.com/office/drawing/2014/main" id="{2D4979DB-2A53-4528-AE9A-BA0426F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Cline Hackathon Finals</a:t>
            </a:r>
          </a:p>
        </p:txBody>
      </p:sp>
    </p:spTree>
    <p:extLst>
      <p:ext uri="{BB962C8B-B14F-4D97-AF65-F5344CB8AC3E}">
        <p14:creationId xmlns:p14="http://schemas.microsoft.com/office/powerpoint/2010/main" val="209462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he scale of the study decision">
            <a:extLst xmlns:a="http://schemas.openxmlformats.org/drawingml/2006/main">
              <a:ext uri="{FF2B5EF4-FFF2-40B4-BE49-F238E27FC236}">
                <a16:creationId xmlns:a16="http://schemas.microsoft.com/office/drawing/2014/main" id="{894F2C33-BC05-4147-932A-AAFE7EAA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scale of the study decision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7C7E5-68E2-44E4-97E9-1E0EF1363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30bbb5dd49c3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10619EE3-1F17-41BF-967A-07918C6A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B83DBADC-593D-4AFF-9508-8E28141A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16.05 lakh">
            <a:extLst xmlns:a="http://schemas.openxmlformats.org/drawingml/2006/main">
              <a:ext uri="{FF2B5EF4-FFF2-40B4-BE49-F238E27FC236}">
                <a16:creationId xmlns:a16="http://schemas.microsoft.com/office/drawing/2014/main" id="{EB6E0C11-B73D-4BE1-8B7F-85C7952E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16.05 lakh</a:t>
            </a:r>
          </a:p>
        </p:txBody>
      </p:sp>
      <p:sp>
        <p:nvSpPr>
          <p:cNvPr id="6" name="Unique candidates registered for JEE Main 202">
            <a:extLst xmlns:a="http://schemas.openxmlformats.org/drawingml/2006/main">
              <a:ext uri="{FF2B5EF4-FFF2-40B4-BE49-F238E27FC236}">
                <a16:creationId xmlns:a16="http://schemas.microsoft.com/office/drawing/2014/main" id="{20ECE11C-ABE4-4B71-A6C3-4D73404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candidates registered for JEE Main 2026</a:t>
            </a:r>
          </a:p>
        </p:txBody>
      </p:sp>
      <p:sp>
        <p:nvSpPr>
          <p:cNvPr id="7" name="After a wrong answer, what should the learner">
            <a:extLst xmlns:a="http://schemas.openxmlformats.org/drawingml/2006/main">
              <a:ext uri="{FF2B5EF4-FFF2-40B4-BE49-F238E27FC236}">
                <a16:creationId xmlns:a16="http://schemas.microsoft.com/office/drawing/2014/main" id="{4EACF178-9F16-403C-ADBF-1A41EFCB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After a wrong answer, what should the learner study next?</a:t>
            </a:r>
          </a:p>
        </p:txBody>
      </p:sp>
      <p:sp>
        <p:nvSpPr>
          <p:cNvPr id="8" name="Source: NTA, 20 April 2026. Both sessions com">
            <a:extLst xmlns:a="http://schemas.openxmlformats.org/drawingml/2006/main">
              <a:ext uri="{FF2B5EF4-FFF2-40B4-BE49-F238E27FC236}">
                <a16:creationId xmlns:a16="http://schemas.microsoft.com/office/drawing/2014/main" id="{235DE68F-C1B3-43C7-B013-1EDB75E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NTA, 20 April 2026. Both sessions combined.</a:t>
            </a:r>
          </a:p>
        </p:txBody>
      </p:sp>
    </p:spTree>
    <p:extLst>
      <p:ext uri="{BB962C8B-B14F-4D97-AF65-F5344CB8AC3E}">
        <p14:creationId xmlns:p14="http://schemas.microsoft.com/office/powerpoint/2010/main" val="1200504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undational gaps persist into Class VIII">
            <a:extLst xmlns:a="http://schemas.openxmlformats.org/drawingml/2006/main">
              <a:ext uri="{FF2B5EF4-FFF2-40B4-BE49-F238E27FC236}">
                <a16:creationId xmlns:a16="http://schemas.microsoft.com/office/drawing/2014/main" id="{8277BEC9-C078-455A-A4C5-09BA9E8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Foundational gaps persist into Class VIII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7F0C8-CD17-4609-A977-ACA241A63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bd240322641c3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954BB12E-4DD7-47DF-8F11-B850B55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115FD132-F739-4034-AAB1-19AA0B9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DE836E-864E-4669-9B78-2502D2B475A9}"/>
              </a:ext>
            </a:extLst>
          </p:cNvPr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78956d4d36443b"/>
          </a:graphicData>
        </a:graphic>
      </p:graphicFrame>
      <p:sp>
        <p:nvSpPr>
          <p:cNvPr id="6" name="45.8%">
            <a:extLst xmlns:a="http://schemas.openxmlformats.org/drawingml/2006/main">
              <a:ext uri="{FF2B5EF4-FFF2-40B4-BE49-F238E27FC236}">
                <a16:creationId xmlns:a16="http://schemas.microsoft.com/office/drawing/2014/main" id="{184B00C2-591B-4F94-8F8A-60E1651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45.8%</a:t>
            </a:r>
          </a:p>
        </p:txBody>
      </p:sp>
      <p:sp>
        <p:nvSpPr>
          <p:cNvPr id="7" name="could do the assessed&#10;division task in 2024">
            <a:extLst xmlns:a="http://schemas.openxmlformats.org/drawingml/2006/main">
              <a:ext uri="{FF2B5EF4-FFF2-40B4-BE49-F238E27FC236}">
                <a16:creationId xmlns:a16="http://schemas.microsoft.com/office/drawing/2014/main" id="{522ABE1C-2BE9-4661-9086-DB78D58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could do the assessed</a:t>
            </a:r>
          </a:p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division task in 2024</a:t>
            </a:r>
          </a:p>
        </p:txBody>
      </p:sp>
      <p:sp>
        <p:nvSpPr>
          <p:cNvPr id="8" name="Rural Class VIII students.&#10;Broader context, n">
            <a:extLst xmlns:a="http://schemas.openxmlformats.org/drawingml/2006/main">
              <a:ext uri="{FF2B5EF4-FFF2-40B4-BE49-F238E27FC236}">
                <a16:creationId xmlns:a16="http://schemas.microsoft.com/office/drawing/2014/main" id="{C6C4E3A9-2720-459D-BC2C-451347C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Rural Class VIII students.</a:t>
            </a:r>
          </a:p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Broader context, not a JEE study.</a:t>
            </a:r>
          </a:p>
        </p:txBody>
      </p:sp>
      <p:sp>
        <p:nvSpPr>
          <p:cNvPr id="9" name="Source: ASER 2024 National findings, pp. 47–4">
            <a:extLst xmlns:a="http://schemas.openxmlformats.org/drawingml/2006/main">
              <a:ext uri="{FF2B5EF4-FFF2-40B4-BE49-F238E27FC236}">
                <a16:creationId xmlns:a16="http://schemas.microsoft.com/office/drawing/2014/main" id="{EB275673-10AF-4B97-A2FC-72761758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ASER 2024 National findings, pp. 47–48</a:t>
            </a:r>
          </a:p>
        </p:txBody>
      </p:sp>
    </p:spTree>
    <p:extLst>
      <p:ext uri="{BB962C8B-B14F-4D97-AF65-F5344CB8AC3E}">
        <p14:creationId xmlns:p14="http://schemas.microsoft.com/office/powerpoint/2010/main" val="1222487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ne wrong answer, several explanations">
            <a:extLst xmlns:a="http://schemas.openxmlformats.org/drawingml/2006/main">
              <a:ext uri="{FF2B5EF4-FFF2-40B4-BE49-F238E27FC236}">
                <a16:creationId xmlns:a16="http://schemas.microsoft.com/office/drawing/2014/main" id="{AD07391C-A43B-4D59-BD50-2704940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One wrong answer, several explanations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5219F-4A50-472B-B0A7-CCA10441F1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b0ec8144e429b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C03D2A18-763A-4BA0-8644-894210EB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67CE8762-41B5-432A-96A4-D86AEF4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“I got the projectile&#10;question wrong.”">
            <a:extLst xmlns:a="http://schemas.openxmlformats.org/drawingml/2006/main">
              <a:ext uri="{FF2B5EF4-FFF2-40B4-BE49-F238E27FC236}">
                <a16:creationId xmlns:a16="http://schemas.microsoft.com/office/drawing/2014/main" id="{288C7725-29AE-4901-9494-EB8C59A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“I got the projectile</a:t>
            </a:r>
          </a:p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question wrong.”</a:t>
            </a:r>
          </a:p>
        </p:txBody>
      </p:sp>
      <p:sp>
        <p:nvSpPr>
          <p:cNvPr id="6" name="Illustrative learner scenario">
            <a:extLst xmlns:a="http://schemas.openxmlformats.org/drawingml/2006/main">
              <a:ext uri="{FF2B5EF4-FFF2-40B4-BE49-F238E27FC236}">
                <a16:creationId xmlns:a16="http://schemas.microsoft.com/office/drawing/2014/main" id="{8932BC00-6570-4B35-83C2-0582C8A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learner scenario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4DEDB13-4E02-4549-B5D4-1691324F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An older concept needs attention">
            <a:extLst xmlns:a="http://schemas.openxmlformats.org/drawingml/2006/main">
              <a:ext uri="{FF2B5EF4-FFF2-40B4-BE49-F238E27FC236}">
                <a16:creationId xmlns:a16="http://schemas.microsoft.com/office/drawing/2014/main" id="{77B03024-1B01-4F35-95BA-C754634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 older concept needs attention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F1F618BB-D896-4942-BD18-743C3A50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241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A known idea is hard to apply">
            <a:extLst xmlns:a="http://schemas.openxmlformats.org/drawingml/2006/main">
              <a:ext uri="{FF2B5EF4-FFF2-40B4-BE49-F238E27FC236}">
                <a16:creationId xmlns:a16="http://schemas.microsoft.com/office/drawing/2014/main" id="{79919EDB-9075-4FD1-90A4-B51C23D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8607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known idea is hard to apply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286C98C5-64F2-435F-BE2F-217AF212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The chosen model does not fit">
            <a:extLst xmlns:a="http://schemas.openxmlformats.org/drawingml/2006/main">
              <a:ext uri="{FF2B5EF4-FFF2-40B4-BE49-F238E27FC236}">
                <a16:creationId xmlns:a16="http://schemas.microsoft.com/office/drawing/2014/main" id="{49508E31-DD32-4151-9109-511E517D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338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chosen model does not fit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F59044CA-8B77-43CB-9D9F-8DC4537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19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4" name="A condition was misread">
            <a:extLst xmlns:a="http://schemas.openxmlformats.org/drawingml/2006/main">
              <a:ext uri="{FF2B5EF4-FFF2-40B4-BE49-F238E27FC236}">
                <a16:creationId xmlns:a16="http://schemas.microsoft.com/office/drawing/2014/main" id="{99BECD60-43CD-4C6B-923D-8F5DB8F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condition was misread</a:t>
            </a:r>
          </a:p>
        </p:txBody>
      </p:sp>
      <p:sp>
        <p:nvSpPr>
          <p:cNvPr id="15" name="A score alone cannot select the right repair">
            <a:extLst xmlns:a="http://schemas.openxmlformats.org/drawingml/2006/main">
              <a:ext uri="{FF2B5EF4-FFF2-40B4-BE49-F238E27FC236}">
                <a16:creationId xmlns:a16="http://schemas.microsoft.com/office/drawing/2014/main" id="{68317ED7-90DF-4C26-8DDC-DFF0661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score alone cannot select the right repair</a:t>
            </a:r>
          </a:p>
        </p:txBody>
      </p:sp>
    </p:spTree>
    <p:extLst>
      <p:ext uri="{BB962C8B-B14F-4D97-AF65-F5344CB8AC3E}">
        <p14:creationId xmlns:p14="http://schemas.microsoft.com/office/powerpoint/2010/main" val="567435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diagnosis and repair loop">
            <a:extLst xmlns:a="http://schemas.openxmlformats.org/drawingml/2006/main">
              <a:ext uri="{FF2B5EF4-FFF2-40B4-BE49-F238E27FC236}">
                <a16:creationId xmlns:a16="http://schemas.microsoft.com/office/drawing/2014/main" id="{00DA3C1C-B2A2-467C-984B-F61A090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diagnosis and repair loop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FC99B-2EDB-482E-960E-11E1E3358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0f08d92c6422a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E6C87038-1430-4C31-970A-9D962AF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045699CC-C744-4067-AA47-919BC8A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01   Start with a topic or mistake&#10;&#10;02   Chec">
            <a:extLst xmlns:a="http://schemas.openxmlformats.org/drawingml/2006/main">
              <a:ext uri="{FF2B5EF4-FFF2-40B4-BE49-F238E27FC236}">
                <a16:creationId xmlns:a16="http://schemas.microsoft.com/office/drawing/2014/main" id="{673A0F4E-2F93-45D1-BE97-9873095F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7148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01   Start with a topic or mistake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02   Check relevant prerequisites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03   Choose a focused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04   Check again and revisit later</a:t>
            </a:r>
          </a:p>
        </p:txBody>
      </p:sp>
      <p:sp>
        <p:nvSpPr>
          <p:cNvPr id="6" name="At most six diagnostic probes">
            <a:extLst xmlns:a="http://schemas.openxmlformats.org/drawingml/2006/main">
              <a:ext uri="{FF2B5EF4-FFF2-40B4-BE49-F238E27FC236}">
                <a16:creationId xmlns:a16="http://schemas.microsoft.com/office/drawing/2014/main" id="{39CE9B36-BD9B-4902-BE40-FE9A308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At most six diagnostic probes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B8DBE-EA76-4975-8C82-3E34EE16F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bf557f4b745ba"/>
          <a:stretch xmlns:a="http://schemas.openxmlformats.org/drawingml/2006/main"/>
        </p:blipFill>
        <p:spPr>
          <a:xfrm xmlns:a="http://schemas.openxmlformats.org/drawingml/2006/main">
            <a:off x="5505450" y="1812396"/>
            <a:ext cx="6096000" cy="42333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95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nged context tests when a method applies">
            <a:extLst xmlns:a="http://schemas.openxmlformats.org/drawingml/2006/main">
              <a:ext uri="{FF2B5EF4-FFF2-40B4-BE49-F238E27FC236}">
                <a16:creationId xmlns:a16="http://schemas.microsoft.com/office/drawing/2014/main" id="{E11F87B8-8080-4511-86F8-99FE88DF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Changed context tests when a method applies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1A0F-B142-40EE-A2E2-4A0D0511E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664d39f3442c3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6EE6EB65-BA8A-45CB-9644-A08D4A93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F59C8464-8A91-4AEA-972B-74EC6EFD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Angle measured from&#10;the horizontal">
            <a:extLst xmlns:a="http://schemas.openxmlformats.org/drawingml/2006/main">
              <a:ext uri="{FF2B5EF4-FFF2-40B4-BE49-F238E27FC236}">
                <a16:creationId xmlns:a16="http://schemas.microsoft.com/office/drawing/2014/main" id="{EF7F7C94-1A42-48E8-B2A7-288CBF3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horizontal</a:t>
            </a:r>
          </a:p>
        </p:txBody>
      </p:sp>
      <p:sp>
        <p:nvSpPr>
          <p:cNvPr id="6" name="Angle measured from&#10;the vertical">
            <a:extLst xmlns:a="http://schemas.openxmlformats.org/drawingml/2006/main">
              <a:ext uri="{FF2B5EF4-FFF2-40B4-BE49-F238E27FC236}">
                <a16:creationId xmlns:a16="http://schemas.microsoft.com/office/drawing/2014/main" id="{83A77B54-6A49-4584-A375-2AAF0F62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vertical</a:t>
            </a:r>
          </a:p>
        </p:txBody>
      </p:sp>
      <p:sp>
        <p:nvSpPr>
          <p:cNvPr id="7" name="Fₓ = 10 cos 30°">
            <a:extLst xmlns:a="http://schemas.openxmlformats.org/drawingml/2006/main">
              <a:ext uri="{FF2B5EF4-FFF2-40B4-BE49-F238E27FC236}">
                <a16:creationId xmlns:a16="http://schemas.microsoft.com/office/drawing/2014/main" id="{0BF60946-348D-45DD-938A-1210890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Fₓ = 10 cos 30°</a:t>
            </a:r>
          </a:p>
        </p:txBody>
      </p:sp>
      <p:sp>
        <p:nvSpPr>
          <p:cNvPr id="8" name="Fₓ = 10 sin 30°">
            <a:extLst xmlns:a="http://schemas.openxmlformats.org/drawingml/2006/main">
              <a:ext uri="{FF2B5EF4-FFF2-40B4-BE49-F238E27FC236}">
                <a16:creationId xmlns:a16="http://schemas.microsoft.com/office/drawing/2014/main" id="{8D41CFC4-C9EE-4D14-9B83-C929EF4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Fₓ = 10 sin 30°</a:t>
            </a:r>
          </a:p>
        </p:txBody>
      </p:sp>
      <p:sp>
        <p:nvSpPr>
          <p:cNvPr id="9" name="The reference axis changed.&#10;Does the method c">
            <a:extLst xmlns:a="http://schemas.openxmlformats.org/drawingml/2006/main">
              <a:ext uri="{FF2B5EF4-FFF2-40B4-BE49-F238E27FC236}">
                <a16:creationId xmlns:a16="http://schemas.microsoft.com/office/drawing/2014/main" id="{AD4D9A9B-9C6C-492B-A93E-B1E7E94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reference axis changed.</a:t>
            </a:r>
          </a:p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Does the method change with it?</a:t>
            </a:r>
          </a:p>
        </p:txBody>
      </p:sp>
      <p:sp>
        <p:nvSpPr>
          <p:cNvPr id="10" name="Illustrative check: a 10 N force in the first">
            <a:extLst xmlns:a="http://schemas.openxmlformats.org/drawingml/2006/main">
              <a:ext uri="{FF2B5EF4-FFF2-40B4-BE49-F238E27FC236}">
                <a16:creationId xmlns:a16="http://schemas.microsoft.com/office/drawing/2014/main" id="{7E9197EF-186F-4667-970B-4A4A440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check: a 10 N force in the first quadrant</a:t>
            </a:r>
          </a:p>
        </p:txBody>
      </p:sp>
    </p:spTree>
    <p:extLst>
      <p:ext uri="{BB962C8B-B14F-4D97-AF65-F5344CB8AC3E}">
        <p14:creationId xmlns:p14="http://schemas.microsoft.com/office/powerpoint/2010/main" val="1761121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F8D4B-66C9-4428-8F51-268E91569855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190875" y="4048125"/>
            <a:ext cx="1404938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24E48-815E-4D12-99DC-73F59197E761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1847850" y="4048125"/>
            <a:ext cx="13430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6C6C0-E12F-4A31-8B5D-4E1C74BF887F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190875" y="26765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sp>
        <p:nvSpPr>
          <p:cNvPr id="15" name="The concept behind the mistake">
            <a:extLst xmlns:a="http://schemas.openxmlformats.org/drawingml/2006/main">
              <a:ext uri="{FF2B5EF4-FFF2-40B4-BE49-F238E27FC236}">
                <a16:creationId xmlns:a16="http://schemas.microsoft.com/office/drawing/2014/main" id="{4C84BDB2-C45D-49D1-962A-7383381C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concept behind the mistake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1F83A-20F1-4A21-A5F2-1E92A1AEE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83cef159d4eaa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F21BE966-1F60-47B1-8BBA-6D99BE2A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895EF711-4CEF-4887-9BFD-E16016AE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F508F-0E5B-4E6D-B289-CF9BF2C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Projectile 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197B8-85E3-458B-B344-107FB8D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004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85652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Vector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0B2A3-2456-428D-A9DB-A719745F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Trigonometric ratios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B59D9-2F8B-42C6-9D90-AE1C1C0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91075"/>
            <a:ext cx="2143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Vector basics</a:t>
            </a:r>
          </a:p>
        </p:txBody>
      </p:sp>
      <p:sp>
        <p:nvSpPr>
          <p:cNvPr id="12" name="A suspected gap guides the next check">
            <a:extLst xmlns:a="http://schemas.openxmlformats.org/drawingml/2006/main">
              <a:ext uri="{FF2B5EF4-FFF2-40B4-BE49-F238E27FC236}">
                <a16:creationId xmlns:a16="http://schemas.microsoft.com/office/drawing/2014/main" id="{FBADFCCB-6FA4-465E-AA12-A801DF8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A suspected gap guides the next check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2A13C-C1F0-44B8-BCFA-4B04A4D14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459547a6744e9"/>
          <a:stretch xmlns:a="http://schemas.openxmlformats.org/drawingml/2006/main"/>
        </p:blipFill>
        <p:spPr>
          <a:xfrm xmlns:a="http://schemas.openxmlformats.org/drawingml/2006/main">
            <a:off x="6191250" y="1888596"/>
            <a:ext cx="5410200" cy="3757083"/>
          </a:xfrm>
          <a:prstGeom xmlns:a="http://schemas.openxmlformats.org/drawingml/2006/main" prst="rect">
            <a:avLst/>
          </a:prstGeom>
        </p:spPr>
      </p:pic>
      <p:sp>
        <p:nvSpPr>
          <p:cNvPr id="14" name="Illustrative path; actual interface at right">
            <a:extLst xmlns:a="http://schemas.openxmlformats.org/drawingml/2006/main">
              <a:ext uri="{FF2B5EF4-FFF2-40B4-BE49-F238E27FC236}">
                <a16:creationId xmlns:a16="http://schemas.microsoft.com/office/drawing/2014/main" id="{361AA69A-72CC-4B1B-8867-B24D8BB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9775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path; actual interface at right</a:t>
            </a:r>
          </a:p>
        </p:txBody>
      </p:sp>
    </p:spTree>
    <p:extLst>
      <p:ext uri="{BB962C8B-B14F-4D97-AF65-F5344CB8AC3E}">
        <p14:creationId xmlns:p14="http://schemas.microsoft.com/office/powerpoint/2010/main" val="1019735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diagnosis the learner can dispute">
            <a:extLst xmlns:a="http://schemas.openxmlformats.org/drawingml/2006/main">
              <a:ext uri="{FF2B5EF4-FFF2-40B4-BE49-F238E27FC236}">
                <a16:creationId xmlns:a16="http://schemas.microsoft.com/office/drawing/2014/main" id="{A816DD81-2C9A-4082-B8A2-C357E0A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diagnosis the learner can dispute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9B1C3-BF08-4A6B-A842-21D61FD0A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4bd9021e842ff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80A7AF6F-7853-44F9-B0E5-3327F8AB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34DB0D62-2FF3-4EE1-94EE-EFDB391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Suspected contributing gap">
            <a:extLst xmlns:a="http://schemas.openxmlformats.org/drawingml/2006/main">
              <a:ext uri="{FF2B5EF4-FFF2-40B4-BE49-F238E27FC236}">
                <a16:creationId xmlns:a16="http://schemas.microsoft.com/office/drawing/2014/main" id="{DC8024FB-DF8C-4585-938E-1D9DBDCD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Suspected contributing gap</a:t>
            </a:r>
          </a:p>
        </p:txBody>
      </p:sp>
      <p:sp>
        <p:nvSpPr>
          <p:cNvPr id="6" name="No prerequisite difficulty found">
            <a:extLst xmlns:a="http://schemas.openxmlformats.org/drawingml/2006/main">
              <a:ext uri="{FF2B5EF4-FFF2-40B4-BE49-F238E27FC236}">
                <a16:creationId xmlns:a16="http://schemas.microsoft.com/office/drawing/2014/main" id="{6A57B6D4-EC0D-43ED-99D2-2A451DDD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No prerequisite difficulty found</a:t>
            </a:r>
          </a:p>
        </p:txBody>
      </p:sp>
      <p:sp>
        <p:nvSpPr>
          <p:cNvPr id="7" name="Inconclusive or outside coverage">
            <a:extLst xmlns:a="http://schemas.openxmlformats.org/drawingml/2006/main">
              <a:ext uri="{FF2B5EF4-FFF2-40B4-BE49-F238E27FC236}">
                <a16:creationId xmlns:a16="http://schemas.microsoft.com/office/drawing/2014/main" id="{9F3946BC-E8D9-44EF-BD4E-429F1270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Inconclusive or outside coverage</a:t>
            </a:r>
          </a:p>
        </p:txBody>
      </p:sp>
      <p:sp>
        <p:nvSpPr>
          <p:cNvPr id="8" name="The learner can dispute the explanation">
            <a:extLst xmlns:a="http://schemas.openxmlformats.org/drawingml/2006/main">
              <a:ext uri="{FF2B5EF4-FFF2-40B4-BE49-F238E27FC236}">
                <a16:creationId xmlns:a16="http://schemas.microsoft.com/office/drawing/2014/main" id="{B99A7078-BFFE-4CA0-9A04-CC72692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learner can dispute the explanation</a:t>
            </a:r>
          </a:p>
        </p:txBody>
      </p:sp>
      <p:sp>
        <p:nvSpPr>
          <p:cNvPr id="9" name="Immediate check passed; retention untested">
            <a:extLst xmlns:a="http://schemas.openxmlformats.org/drawingml/2006/main">
              <a:ext uri="{FF2B5EF4-FFF2-40B4-BE49-F238E27FC236}">
                <a16:creationId xmlns:a16="http://schemas.microsoft.com/office/drawing/2014/main" id="{636552A6-D6CD-4E85-BD43-D900D5E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Immediate check passed; retention untested</a:t>
            </a:r>
          </a:p>
        </p:txBody>
      </p:sp>
    </p:spTree>
    <p:extLst>
      <p:ext uri="{BB962C8B-B14F-4D97-AF65-F5344CB8AC3E}">
        <p14:creationId xmlns:p14="http://schemas.microsoft.com/office/powerpoint/2010/main" val="2092386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BA67C-8934-4FA6-9608-CDAAB2492B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104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D9BE2-4497-4A2C-A11B-CDE58D45AC7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718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sp>
        <p:nvSpPr>
          <p:cNvPr id="15" name="Cline suggests the route">
            <a:extLst xmlns:a="http://schemas.openxmlformats.org/drawingml/2006/main">
              <a:ext uri="{FF2B5EF4-FFF2-40B4-BE49-F238E27FC236}">
                <a16:creationId xmlns:a16="http://schemas.microsoft.com/office/drawing/2014/main" id="{02F5E3F9-E2A6-4EED-B593-BBC7D21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Cline suggests the route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63919-6D6F-47E1-BC72-480856653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b62659eff47c0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B4A3FC1A-8A69-4BC0-9F67-F241C57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16A1F09-2622-49FC-8EC6-B3CF493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5" name="Code controls the evidence">
            <a:extLst xmlns:a="http://schemas.openxmlformats.org/drawingml/2006/main">
              <a:ext uri="{FF2B5EF4-FFF2-40B4-BE49-F238E27FC236}">
                <a16:creationId xmlns:a16="http://schemas.microsoft.com/office/drawing/2014/main" id="{BF69B120-1B90-4494-9222-4FC8969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Code controls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731D-5D09-4764-A880-FF2370A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Student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4A746-2FB8-4316-A061-CABBA320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Server grading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896DD-E5C2-4CCC-8867-31A917FA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Evidence state</a:t>
            </a:r>
          </a:p>
        </p:txBody>
      </p:sp>
      <p:sp>
        <p:nvSpPr>
          <p:cNvPr id="11" name="Cline SDK suggestions">
            <a:extLst xmlns:a="http://schemas.openxmlformats.org/drawingml/2006/main">
              <a:ext uri="{FF2B5EF4-FFF2-40B4-BE49-F238E27FC236}">
                <a16:creationId xmlns:a16="http://schemas.microsoft.com/office/drawing/2014/main" id="{3A39108A-1BF0-4A72-B410-D8441CBD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Cline SDK suggestions</a:t>
            </a:r>
          </a:p>
        </p:txBody>
      </p:sp>
      <p:sp>
        <p:nvSpPr>
          <p:cNvPr id="12" name="Probe order and repair choice&#10;Validated befor">
            <a:extLst xmlns:a="http://schemas.openxmlformats.org/drawingml/2006/main">
              <a:ext uri="{FF2B5EF4-FFF2-40B4-BE49-F238E27FC236}">
                <a16:creationId xmlns:a16="http://schemas.microsoft.com/office/drawing/2014/main" id="{45F4A244-39C2-447C-A163-0C971B7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687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Probe order and repair choice</a:t>
            </a:r>
          </a:p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Validated before use; deterministic fallback</a:t>
            </a:r>
          </a:p>
        </p:txBody>
      </p:sp>
      <p:sp>
        <p:nvSpPr>
          <p:cNvPr id="13" name="Also implemented: question-bank writer / solv">
            <a:extLst xmlns:a="http://schemas.openxmlformats.org/drawingml/2006/main">
              <a:ext uri="{FF2B5EF4-FFF2-40B4-BE49-F238E27FC236}">
                <a16:creationId xmlns:a16="http://schemas.microsoft.com/office/drawing/2014/main" id="{C973487B-03E8-4B85-BC4E-C195F885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Also implemented: question-bank writer / solver pipeline with an approval gate</a:t>
            </a:r>
          </a:p>
        </p:txBody>
      </p:sp>
      <p:sp>
        <p:nvSpPr>
          <p:cNvPr id="14" name="Live model performance remains unverified in ">
            <a:extLst xmlns:a="http://schemas.openxmlformats.org/drawingml/2006/main">
              <a:ext uri="{FF2B5EF4-FFF2-40B4-BE49-F238E27FC236}">
                <a16:creationId xmlns:a16="http://schemas.microsoft.com/office/drawing/2014/main" id="{5ADC49D4-7588-4DB2-8CB4-82212033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Live model performance remains unverified in this snapshot</a:t>
            </a:r>
          </a:p>
        </p:txBody>
      </p:sp>
    </p:spTree>
    <p:extLst>
      <p:ext uri="{BB962C8B-B14F-4D97-AF65-F5344CB8AC3E}">
        <p14:creationId xmlns:p14="http://schemas.microsoft.com/office/powerpoint/2010/main" val="278399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e core mechanism is implemented">
            <a:extLst xmlns:a="http://schemas.openxmlformats.org/drawingml/2006/main">
              <a:ext uri="{FF2B5EF4-FFF2-40B4-BE49-F238E27FC236}">
                <a16:creationId xmlns:a16="http://schemas.microsoft.com/office/drawing/2014/main" id="{833CDF3C-FEC4-41C3-AC12-7E1FD58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core mechanism is implemented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5453D-3A7B-4AE6-B4A9-B88749CB1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ad2f26b6740af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D5EDD86D-2052-4AE2-870F-DA9101E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30BF39DF-D785-4A50-8D54-4B70AF9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6B3F9DA4-D827-470F-9B7C-F1D2E8B1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6" name="concept nodes">
            <a:extLst xmlns:a="http://schemas.openxmlformats.org/drawingml/2006/main">
              <a:ext uri="{FF2B5EF4-FFF2-40B4-BE49-F238E27FC236}">
                <a16:creationId xmlns:a16="http://schemas.microsoft.com/office/drawing/2014/main" id="{18793AA9-9991-41FF-BBCA-F81C9148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concept nodes</a:t>
            </a:r>
          </a:p>
        </p:txBody>
      </p:sp>
      <p:sp>
        <p:nvSpPr>
          <p:cNvPr id="7" name="27">
            <a:extLst xmlns:a="http://schemas.openxmlformats.org/drawingml/2006/main">
              <a:ext uri="{FF2B5EF4-FFF2-40B4-BE49-F238E27FC236}">
                <a16:creationId xmlns:a16="http://schemas.microsoft.com/office/drawing/2014/main" id="{A277C4BD-B97A-4712-9023-AD030F5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8" name="authored diagnostic entries">
            <a:extLst xmlns:a="http://schemas.openxmlformats.org/drawingml/2006/main">
              <a:ext uri="{FF2B5EF4-FFF2-40B4-BE49-F238E27FC236}">
                <a16:creationId xmlns:a16="http://schemas.microsoft.com/office/drawing/2014/main" id="{C58A87C3-6C1C-44B5-93D8-D2E681DF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authored diagnostic entries</a:t>
            </a:r>
          </a:p>
        </p:txBody>
      </p:sp>
      <p:sp>
        <p:nvSpPr>
          <p:cNvPr id="9" name="247">
            <a:extLst xmlns:a="http://schemas.openxmlformats.org/drawingml/2006/main">
              <a:ext uri="{FF2B5EF4-FFF2-40B4-BE49-F238E27FC236}">
                <a16:creationId xmlns:a16="http://schemas.microsoft.com/office/drawing/2014/main" id="{208E296F-CCE0-4BAC-8967-7058416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247</a:t>
            </a:r>
          </a:p>
        </p:txBody>
      </p:sp>
      <p:sp>
        <p:nvSpPr>
          <p:cNvPr id="10" name="passing automated tests">
            <a:extLst xmlns:a="http://schemas.openxmlformats.org/drawingml/2006/main">
              <a:ext uri="{FF2B5EF4-FFF2-40B4-BE49-F238E27FC236}">
                <a16:creationId xmlns:a16="http://schemas.microsoft.com/office/drawing/2014/main" id="{FCFEDF8F-ABB8-459D-A9B6-06F28A18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passing automated tests</a:t>
            </a:r>
          </a:p>
        </p:txBody>
      </p:sp>
      <p:sp>
        <p:nvSpPr>
          <p:cNvPr id="11" name="0">
            <a:extLst xmlns:a="http://schemas.openxmlformats.org/drawingml/2006/main">
              <a:ext uri="{FF2B5EF4-FFF2-40B4-BE49-F238E27FC236}">
                <a16:creationId xmlns:a16="http://schemas.microsoft.com/office/drawing/2014/main" id="{87C7255B-BB50-423A-8C8C-97FB33E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2" name="final content approvals">
            <a:extLst xmlns:a="http://schemas.openxmlformats.org/drawingml/2006/main">
              <a:ext uri="{FF2B5EF4-FFF2-40B4-BE49-F238E27FC236}">
                <a16:creationId xmlns:a16="http://schemas.microsoft.com/office/drawing/2014/main" id="{DC228F73-5F31-458A-969E-C429C51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final content approvals</a:t>
            </a:r>
          </a:p>
        </p:txBody>
      </p:sp>
      <p:sp>
        <p:nvSpPr>
          <p:cNvPr id="13" name="Controlled local prototype. Educator review a">
            <a:extLst xmlns:a="http://schemas.openxmlformats.org/drawingml/2006/main">
              <a:ext uri="{FF2B5EF4-FFF2-40B4-BE49-F238E27FC236}">
                <a16:creationId xmlns:a16="http://schemas.microsoft.com/office/drawing/2014/main" id="{B72096A4-5792-4501-BC6E-EF4487BD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Controlled local prototype. Educator review and learner validation are next.</a:t>
            </a:r>
          </a:p>
        </p:txBody>
      </p:sp>
    </p:spTree>
    <p:extLst>
      <p:ext uri="{BB962C8B-B14F-4D97-AF65-F5344CB8AC3E}">
        <p14:creationId xmlns:p14="http://schemas.microsoft.com/office/powerpoint/2010/main" val="1651138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E06E1-3394-4DBC-9A09-82ED5CA4A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1e3076b8c4619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E3B8C763-251E-4BB4-8386-49EDD0D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CEA47E19-34FA-4821-8EBD-FC976DA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A next study step&#10;the learner can explain">
            <a:extLst xmlns:a="http://schemas.openxmlformats.org/drawingml/2006/main">
              <a:ext uri="{FF2B5EF4-FFF2-40B4-BE49-F238E27FC236}">
                <a16:creationId xmlns:a16="http://schemas.microsoft.com/office/drawing/2014/main" id="{EAEDC00F-4418-4FD2-940B-FC08E88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10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next study step</a:t>
            </a:r>
          </a:p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the learner can explain</a:t>
            </a:r>
          </a:p>
        </p:txBody>
      </p:sp>
      <p:sp>
        <p:nvSpPr>
          <p:cNvPr id="5" name="Planned validation">
            <a:extLst xmlns:a="http://schemas.openxmlformats.org/drawingml/2006/main">
              <a:ext uri="{FF2B5EF4-FFF2-40B4-BE49-F238E27FC236}">
                <a16:creationId xmlns:a16="http://schemas.microsoft.com/office/drawing/2014/main" id="{3C6E36D8-5E1A-4C64-B570-605E9A78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Planned validation</a:t>
            </a:r>
          </a:p>
        </p:txBody>
      </p:sp>
      <p:sp>
        <p:nvSpPr>
          <p:cNvPr id="6" name="Observe an adult learner complete the loop wi">
            <a:extLst xmlns:a="http://schemas.openxmlformats.org/drawingml/2006/main">
              <a:ext uri="{FF2B5EF4-FFF2-40B4-BE49-F238E27FC236}">
                <a16:creationId xmlns:a16="http://schemas.microsoft.com/office/drawing/2014/main" id="{28E9DA01-2C5F-46A6-8FDD-8116F1A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Observe an adult learner complete the loop without coaching.</a:t>
            </a:r>
          </a:p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Check whether the route improves their next study decision.</a:t>
            </a:r>
          </a:p>
        </p:txBody>
      </p:sp>
      <p:sp>
        <p:nvSpPr>
          <p:cNvPr id="7" name="Watch the controlled demo">
            <a:extLst xmlns:a="http://schemas.openxmlformats.org/drawingml/2006/main">
              <a:ext uri="{FF2B5EF4-FFF2-40B4-BE49-F238E27FC236}">
                <a16:creationId xmlns:a16="http://schemas.microsoft.com/office/drawing/2014/main" id="{29C3F110-00E2-44E6-87BA-D19A719F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Watch the controlled demo</a:t>
            </a:r>
          </a:p>
        </p:txBody>
      </p:sp>
      <p:sp>
        <p:nvSpPr>
          <p:cNvPr id="8" name="Team Athena">
            <a:extLst xmlns:a="http://schemas.openxmlformats.org/drawingml/2006/main">
              <a:ext uri="{FF2B5EF4-FFF2-40B4-BE49-F238E27FC236}">
                <a16:creationId xmlns:a16="http://schemas.microsoft.com/office/drawing/2014/main" id="{55D94987-F14C-4D73-8309-4771BDF9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Team Athena</a:t>
            </a:r>
          </a:p>
        </p:txBody>
      </p:sp>
    </p:spTree>
    <p:extLst>
      <p:ext uri="{BB962C8B-B14F-4D97-AF65-F5344CB8AC3E}">
        <p14:creationId xmlns:p14="http://schemas.microsoft.com/office/powerpoint/2010/main" val="532740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adiness and limits">
            <a:extLst xmlns:a="http://schemas.openxmlformats.org/drawingml/2006/main">
              <a:ext uri="{FF2B5EF4-FFF2-40B4-BE49-F238E27FC236}">
                <a16:creationId xmlns:a16="http://schemas.microsoft.com/office/drawing/2014/main" id="{A66695FE-BCC5-49E0-B84C-408C3FD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Readiness and limits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18FE4-673E-42D1-A0D8-57A80C92A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ad08ab0ae4595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A6D3CA92-3D8C-45CE-B449-9ADF4075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8319B536-B7A8-4B27-B114-503AB8E4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5" name="Implemented">
            <a:extLst xmlns:a="http://schemas.openxmlformats.org/drawingml/2006/main">
              <a:ext uri="{FF2B5EF4-FFF2-40B4-BE49-F238E27FC236}">
                <a16:creationId xmlns:a16="http://schemas.microsoft.com/office/drawing/2014/main" id="{E8A1BC58-1C03-449F-9CBE-53E2D050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Implemented</a:t>
            </a:r>
          </a:p>
        </p:txBody>
      </p:sp>
      <p:sp>
        <p:nvSpPr>
          <p:cNvPr id="6" name="Evidence engine, server grading, concept map,">
            <a:extLst xmlns:a="http://schemas.openxmlformats.org/drawingml/2006/main">
              <a:ext uri="{FF2B5EF4-FFF2-40B4-BE49-F238E27FC236}">
                <a16:creationId xmlns:a16="http://schemas.microsoft.com/office/drawing/2014/main" id="{3FA102E2-8B23-49E6-906E-80297E1A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Evidence engine, server grading, concept map, profiles, review scheduling</a:t>
            </a:r>
          </a:p>
        </p:txBody>
      </p:sp>
      <p:sp>
        <p:nvSpPr>
          <p:cNvPr id="7" name="Content gate">
            <a:extLst xmlns:a="http://schemas.openxmlformats.org/drawingml/2006/main">
              <a:ext uri="{FF2B5EF4-FFF2-40B4-BE49-F238E27FC236}">
                <a16:creationId xmlns:a16="http://schemas.microsoft.com/office/drawing/2014/main" id="{EB3CF215-728B-4F2E-AE82-CFBFAB1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Content gate</a:t>
            </a:r>
          </a:p>
        </p:txBody>
      </p:sp>
      <p:sp>
        <p:nvSpPr>
          <p:cNvPr id="8" name="27 authored diagnostic entries plus 1 other e">
            <a:extLst xmlns:a="http://schemas.openxmlformats.org/drawingml/2006/main">
              <a:ext uri="{FF2B5EF4-FFF2-40B4-BE49-F238E27FC236}">
                <a16:creationId xmlns:a16="http://schemas.microsoft.com/office/drawing/2014/main" id="{FB6AE238-E238-4BFD-900F-946BC0A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27 authored diagnostic entries plus 1 other entry; 0 final approvals</a:t>
            </a:r>
          </a:p>
        </p:txBody>
      </p:sp>
      <p:sp>
        <p:nvSpPr>
          <p:cNvPr id="9" name="Engineering">
            <a:extLst xmlns:a="http://schemas.openxmlformats.org/drawingml/2006/main">
              <a:ext uri="{FF2B5EF4-FFF2-40B4-BE49-F238E27FC236}">
                <a16:creationId xmlns:a16="http://schemas.microsoft.com/office/drawing/2014/main" id="{9D8247C9-1A38-4AC8-84D9-2C1A7BFE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Engineering</a:t>
            </a:r>
          </a:p>
        </p:txBody>
      </p:sp>
      <p:sp>
        <p:nvSpPr>
          <p:cNvPr id="10" name="247 tests passed; TypeScript issues remain in">
            <a:extLst xmlns:a="http://schemas.openxmlformats.org/drawingml/2006/main">
              <a:ext uri="{FF2B5EF4-FFF2-40B4-BE49-F238E27FC236}">
                <a16:creationId xmlns:a16="http://schemas.microsoft.com/office/drawing/2014/main" id="{8D2CC42A-BD39-4CE9-A839-0E522C1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247 tests passed; TypeScript issues remain in script and test fixtures</a:t>
            </a:r>
          </a:p>
        </p:txBody>
      </p:sp>
      <p:sp>
        <p:nvSpPr>
          <p:cNvPr id="11" name="Still to verify">
            <a:extLst xmlns:a="http://schemas.openxmlformats.org/drawingml/2006/main">
              <a:ext uri="{FF2B5EF4-FFF2-40B4-BE49-F238E27FC236}">
                <a16:creationId xmlns:a16="http://schemas.microsoft.com/office/drawing/2014/main" id="{AC50540D-0ECF-4831-8815-202918E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Still to verify</a:t>
            </a:r>
          </a:p>
        </p:txBody>
      </p:sp>
      <p:sp>
        <p:nvSpPr>
          <p:cNvPr id="12" name="Live SDK performance, clean production build ">
            <a:extLst xmlns:a="http://schemas.openxmlformats.org/drawingml/2006/main">
              <a:ext uri="{FF2B5EF4-FFF2-40B4-BE49-F238E27FC236}">
                <a16:creationId xmlns:a16="http://schemas.microsoft.com/office/drawing/2014/main" id="{A39EA236-9FD2-44A9-8222-3A4D680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Live SDK performance, clean production build and learner outcomes</a:t>
            </a:r>
          </a:p>
        </p:txBody>
      </p:sp>
      <p:sp>
        <p:nvSpPr>
          <p:cNvPr id="13" name="Deployment">
            <a:extLst xmlns:a="http://schemas.openxmlformats.org/drawingml/2006/main">
              <a:ext uri="{FF2B5EF4-FFF2-40B4-BE49-F238E27FC236}">
                <a16:creationId xmlns:a16="http://schemas.microsoft.com/office/drawing/2014/main" id="{D53C21E1-D974-4B44-A824-67210BFE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14" name="Local controlled prototype; AI access restric">
            <a:extLst xmlns:a="http://schemas.openxmlformats.org/drawingml/2006/main">
              <a:ext uri="{FF2B5EF4-FFF2-40B4-BE49-F238E27FC236}">
                <a16:creationId xmlns:a16="http://schemas.microsoft.com/office/drawing/2014/main" id="{7FACCAF9-5E20-4341-A9D5-1CB2FC8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Local controlled prototype; AI access restricted to adults</a:t>
            </a:r>
          </a:p>
        </p:txBody>
      </p:sp>
    </p:spTree>
    <p:extLst>
      <p:ext uri="{BB962C8B-B14F-4D97-AF65-F5344CB8AC3E}">
        <p14:creationId xmlns:p14="http://schemas.microsoft.com/office/powerpoint/2010/main" val="2082405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s and evidence definitions">
            <a:extLst xmlns:a="http://schemas.openxmlformats.org/drawingml/2006/main">
              <a:ext uri="{FF2B5EF4-FFF2-40B4-BE49-F238E27FC236}">
                <a16:creationId xmlns:a16="http://schemas.microsoft.com/office/drawing/2014/main" id="{FAD38D3F-3980-4F9D-915E-02DB220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Sources and evidence definitions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6AADF-D2A7-4AC0-9010-4CE154F38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7e2eb2dcc4566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21A10BB7-C644-4D7F-A6F8-048A525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89A79AD-797E-40CF-A9BB-E22CCDF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5" name="NTA  ·  JEE Main 2026">
            <a:extLst xmlns:a="http://schemas.openxmlformats.org/drawingml/2006/main">
              <a:ext uri="{FF2B5EF4-FFF2-40B4-BE49-F238E27FC236}">
                <a16:creationId xmlns:a16="http://schemas.microsoft.com/office/drawing/2014/main" id="{D7388D1D-0B92-4D8A-8441-92021E9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NTA  ·  JEE Main 2026</a:t>
            </a:r>
          </a:p>
        </p:txBody>
      </p:sp>
      <p:sp>
        <p:nvSpPr>
          <p:cNvPr id="6" name="Unique registrations across both sessions, pr">
            <a:extLst xmlns:a="http://schemas.openxmlformats.org/drawingml/2006/main">
              <a:ext uri="{FF2B5EF4-FFF2-40B4-BE49-F238E27FC236}">
                <a16:creationId xmlns:a16="http://schemas.microsoft.com/office/drawing/2014/main" id="{0F790A54-CDC0-4555-A133-7ABBD43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registrations across both sessions, press release 20 April 2026</a:t>
            </a:r>
          </a:p>
        </p:txBody>
      </p:sp>
      <p:sp>
        <p:nvSpPr>
          <p:cNvPr id="7" name="Official NTA press release">
            <a:extLst xmlns:a="http://schemas.openxmlformats.org/drawingml/2006/main">
              <a:ext uri="{FF2B5EF4-FFF2-40B4-BE49-F238E27FC236}">
                <a16:creationId xmlns:a16="http://schemas.microsoft.com/office/drawing/2014/main" id="{8F0D69CC-FEBC-4515-9C89-061EDBF3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67c60de94e254ae4"/>
              </a:rPr>
              <a:t>Official NTA press release</a:t>
            </a:r>
          </a:p>
        </p:txBody>
      </p:sp>
      <p:sp>
        <p:nvSpPr>
          <p:cNvPr id="8" name="ASER 2024  ·  National findings, pp. 47–48">
            <a:extLst xmlns:a="http://schemas.openxmlformats.org/drawingml/2006/main">
              <a:ext uri="{FF2B5EF4-FFF2-40B4-BE49-F238E27FC236}">
                <a16:creationId xmlns:a16="http://schemas.microsoft.com/office/drawing/2014/main" id="{36B245BD-8CCD-4448-B733-AB6AE30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ASER 2024  ·  National findings, pp. 47–48</a:t>
            </a:r>
          </a:p>
        </p:txBody>
      </p:sp>
      <p:sp>
        <p:nvSpPr>
          <p:cNvPr id="9" name="Rural Class VIII division assessment. This do">
            <a:extLst xmlns:a="http://schemas.openxmlformats.org/drawingml/2006/main">
              <a:ext uri="{FF2B5EF4-FFF2-40B4-BE49-F238E27FC236}">
                <a16:creationId xmlns:a16="http://schemas.microsoft.com/office/drawing/2014/main" id="{E967250D-B7B7-430E-8AC8-0E3DB1C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Rural Class VIII division assessment. This does not measure JEE aspirants.</a:t>
            </a:r>
          </a:p>
        </p:txBody>
      </p:sp>
      <p:sp>
        <p:nvSpPr>
          <p:cNvPr id="10" name="Official ASER national findings">
            <a:extLst xmlns:a="http://schemas.openxmlformats.org/drawingml/2006/main">
              <a:ext uri="{FF2B5EF4-FFF2-40B4-BE49-F238E27FC236}">
                <a16:creationId xmlns:a16="http://schemas.microsoft.com/office/drawing/2014/main" id="{784229E3-AC69-4FFA-8590-75443FA3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e968a01be4624091"/>
              </a:rPr>
              <a:t>Official ASER national findings</a:t>
            </a:r>
          </a:p>
        </p:txBody>
      </p:sp>
      <p:sp>
        <p:nvSpPr>
          <p:cNvPr id="11" name="Local implementation snapshot  ·  10 October ">
            <a:extLst xmlns:a="http://schemas.openxmlformats.org/drawingml/2006/main">
              <a:ext uri="{FF2B5EF4-FFF2-40B4-BE49-F238E27FC236}">
                <a16:creationId xmlns:a16="http://schemas.microsoft.com/office/drawing/2014/main" id="{51B8B191-425C-4AFD-B389-09E6C9E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Local implementation snapshot  ·  10 October 2026</a:t>
            </a:r>
          </a:p>
        </p:txBody>
      </p:sp>
      <p:sp>
        <p:nvSpPr>
          <p:cNvPr id="12" name="Implementation counts describe scope. Learner">
            <a:extLst xmlns:a="http://schemas.openxmlformats.org/drawingml/2006/main">
              <a:ext uri="{FF2B5EF4-FFF2-40B4-BE49-F238E27FC236}">
                <a16:creationId xmlns:a16="http://schemas.microsoft.com/office/drawing/2014/main" id="{54C46A8A-4103-4C52-B2D3-9FB5445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Implementation counts describe scope. Learner efficacy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492650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2026-10-10T14:05:36.0130000Z</dcterms:created>
  <dcterms:modified xsi:type="dcterms:W3CDTF">2026-10-10T14:05:36.0140000Z</dcterms:modified>
</coreProperties>
</file>