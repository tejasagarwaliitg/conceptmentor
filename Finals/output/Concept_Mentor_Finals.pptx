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78ea335e14d2c" /><Relationship Type="http://schemas.openxmlformats.org/officeDocument/2006/relationships/extended-properties" Target="/docProps/app.xml" Id="R1e89bd674d7a4acc" /><Relationship Type="http://schemas.openxmlformats.org/officeDocument/2006/relationships/officeDocument" Target="/ppt/presentation.xml" Id="R81d00eb7eebc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4623a8ec443b9"/>
  </p:sldMasterIdLst>
  <p:notesMasterIdLst>
    <p:notesMasterId xmlns:r="http://schemas.openxmlformats.org/officeDocument/2006/relationships" r:id="Rce9bfd9e9dd44d75"/>
  </p:notesMasterIdLst>
  <p:sldIdLst>
    <p:sldId xmlns:r="http://schemas.openxmlformats.org/officeDocument/2006/relationships" id="256" r:id="R8712015527434e32"/>
    <p:sldId xmlns:r="http://schemas.openxmlformats.org/officeDocument/2006/relationships" id="257" r:id="R5ed869c2d92b4674"/>
    <p:sldId xmlns:r="http://schemas.openxmlformats.org/officeDocument/2006/relationships" id="258" r:id="R4467744597584ac6"/>
    <p:sldId xmlns:r="http://schemas.openxmlformats.org/officeDocument/2006/relationships" id="259" r:id="Rb6fa1f721f0e49ea"/>
    <p:sldId xmlns:r="http://schemas.openxmlformats.org/officeDocument/2006/relationships" id="260" r:id="R273db9ebf38f435c"/>
    <p:sldId xmlns:r="http://schemas.openxmlformats.org/officeDocument/2006/relationships" id="261" r:id="R3ca32f67f3e348d8"/>
    <p:sldId xmlns:r="http://schemas.openxmlformats.org/officeDocument/2006/relationships" id="262" r:id="Rb45503ec90d54502"/>
    <p:sldId xmlns:r="http://schemas.openxmlformats.org/officeDocument/2006/relationships" id="263" r:id="R7e01c474527c40a6"/>
    <p:sldId xmlns:r="http://schemas.openxmlformats.org/officeDocument/2006/relationships" id="264" r:id="Ref9357de08874367"/>
    <p:sldId xmlns:r="http://schemas.openxmlformats.org/officeDocument/2006/relationships" id="265" r:id="R0674ac311f4b4cd7"/>
    <p:sldId xmlns:r="http://schemas.openxmlformats.org/officeDocument/2006/relationships" id="266" r:id="R1c41d4100523498e"/>
    <p:sldId xmlns:r="http://schemas.openxmlformats.org/officeDocument/2006/relationships" id="267" r:id="R7d569f0db7c44659"/>
    <p:sldId xmlns:r="http://schemas.openxmlformats.org/officeDocument/2006/relationships" id="268" r:id="Rf35582347736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bafa9c559f414b" /><Relationship Type="http://schemas.openxmlformats.org/officeDocument/2006/relationships/slideMaster" Target="/ppt/slideMasters/slideMaster1.xml" Id="R6ca4623a8ec443b9" /><Relationship Type="http://schemas.openxmlformats.org/officeDocument/2006/relationships/notesMaster" Target="/ppt/notesMasters/notesMaster1.xml" Id="Rce9bfd9e9dd44d75" /><Relationship Type="http://schemas.openxmlformats.org/officeDocument/2006/relationships/presProps" Target="/ppt/presProps.xml" Id="Ra3a6e8f4d6d64538" /><Relationship Type="http://schemas.openxmlformats.org/officeDocument/2006/relationships/tableStyles" Target="/ppt/tableStyles.xml" Id="Re5912376f2f542d4" /><Relationship Type="http://schemas.openxmlformats.org/officeDocument/2006/relationships/slide" Target="/ppt/slides/slide1.xml" Id="R8712015527434e32" /><Relationship Type="http://schemas.openxmlformats.org/officeDocument/2006/relationships/slide" Target="/ppt/slides/slide2.xml" Id="R5ed869c2d92b4674" /><Relationship Type="http://schemas.openxmlformats.org/officeDocument/2006/relationships/slide" Target="/ppt/slides/slide3.xml" Id="R4467744597584ac6" /><Relationship Type="http://schemas.openxmlformats.org/officeDocument/2006/relationships/slide" Target="/ppt/slides/slide4.xml" Id="Rb6fa1f721f0e49ea" /><Relationship Type="http://schemas.openxmlformats.org/officeDocument/2006/relationships/slide" Target="/ppt/slides/slide5.xml" Id="R273db9ebf38f435c" /><Relationship Type="http://schemas.openxmlformats.org/officeDocument/2006/relationships/slide" Target="/ppt/slides/slide6.xml" Id="R3ca32f67f3e348d8" /><Relationship Type="http://schemas.openxmlformats.org/officeDocument/2006/relationships/slide" Target="/ppt/slides/slide7.xml" Id="Rb45503ec90d54502" /><Relationship Type="http://schemas.openxmlformats.org/officeDocument/2006/relationships/slide" Target="/ppt/slides/slide8.xml" Id="R7e01c474527c40a6" /><Relationship Type="http://schemas.openxmlformats.org/officeDocument/2006/relationships/slide" Target="/ppt/slides/slide9.xml" Id="Ref9357de08874367" /><Relationship Type="http://schemas.openxmlformats.org/officeDocument/2006/relationships/slide" Target="/ppt/slides/slide10.xml" Id="R0674ac311f4b4cd7" /><Relationship Type="http://schemas.openxmlformats.org/officeDocument/2006/relationships/slide" Target="/ppt/slides/slide11.xml" Id="R1c41d4100523498e" /><Relationship Type="http://schemas.openxmlformats.org/officeDocument/2006/relationships/slide" Target="/ppt/slides/slide12.xml" Id="R7d569f0db7c44659" /><Relationship Type="http://schemas.openxmlformats.org/officeDocument/2006/relationships/slide" Target="/ppt/slides/slide13.xml" Id="Rf35582347736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0a7172542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b0884f8714bee" /><Relationship Type="http://schemas.openxmlformats.org/officeDocument/2006/relationships/notesMaster" Target="/ppt/notesMasters/notesMaster1.xml" Id="Rcf32af3cd6a8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e35368c0494f3e" /><Relationship Type="http://schemas.openxmlformats.org/officeDocument/2006/relationships/notesMaster" Target="/ppt/notesMasters/notesMaster1.xml" Id="Rf25396c7ee004e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bca8b74ce4a2c" /><Relationship Type="http://schemas.openxmlformats.org/officeDocument/2006/relationships/notesMaster" Target="/ppt/notesMasters/notesMaster1.xml" Id="Rb6014bfc97be4f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c02c5c21bf4d91" /><Relationship Type="http://schemas.openxmlformats.org/officeDocument/2006/relationships/notesMaster" Target="/ppt/notesMasters/notesMaster1.xml" Id="R508b13a0867f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7b79f584a47b4" /><Relationship Type="http://schemas.openxmlformats.org/officeDocument/2006/relationships/notesMaster" Target="/ppt/notesMasters/notesMaster1.xml" Id="Rab01e735115d40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8345007e4c4301" /><Relationship Type="http://schemas.openxmlformats.org/officeDocument/2006/relationships/notesMaster" Target="/ppt/notesMasters/notesMaster1.xml" Id="Rcb2b69319fcc4d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b3775cb61340c4" /><Relationship Type="http://schemas.openxmlformats.org/officeDocument/2006/relationships/notesMaster" Target="/ppt/notesMasters/notesMaster1.xml" Id="R6299a3428e8244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6543a1e2f94394" /><Relationship Type="http://schemas.openxmlformats.org/officeDocument/2006/relationships/notesMaster" Target="/ppt/notesMasters/notesMaster1.xml" Id="Rab991e7bb9404d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2e4cfe11e641c1" /><Relationship Type="http://schemas.openxmlformats.org/officeDocument/2006/relationships/notesMaster" Target="/ppt/notesMasters/notesMaster1.xml" Id="R34295c62fbcb4e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a5cb8ebfd1465f" /><Relationship Type="http://schemas.openxmlformats.org/officeDocument/2006/relationships/notesMaster" Target="/ppt/notesMasters/notesMaster1.xml" Id="R0a9a452e0da14f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74a5fb4c1a446b" /><Relationship Type="http://schemas.openxmlformats.org/officeDocument/2006/relationships/notesMaster" Target="/ppt/notesMasters/notesMaster1.xml" Id="R82466b2bde2941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22e06596444897" /><Relationship Type="http://schemas.openxmlformats.org/officeDocument/2006/relationships/notesMaster" Target="/ppt/notesMasters/notesMaster1.xml" Id="Rc82cf168ce5f4f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33789144a74d01" /><Relationship Type="http://schemas.openxmlformats.org/officeDocument/2006/relationships/notesMaster" Target="/ppt/notesMasters/notesMaster1.xml" Id="R4f6aed0ae334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Mentor is a controlled local JEE foundations prototype. The core uses deterministic evidence rules. No learner-outcome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National Testing Agency, press release 20 April 2026. https://www.nta.ac.in/Download/Notice/Notice_20260420194021.pdf . 1,604,854 unique candidates registered across January/April JEE Main 2026. Registered is not appeared. Scale does not establish product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ASER 2024 National findings, printed pp47–48. https://asercentre.org/wp-content/uploads/2022/12/ASER-2024-National-findings.pdf . Rural Class VIII students able to do assessed basic division: 44.1% (2018), 44.7% (2022), 45.8% (2024). These are not JEE aspirants. Do not extrapolate prevalence to the target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wrong projectile-motion answer can reflect prerequisite difficulty, a problem applying a known idea, a wrong model or a misread condition. This is a reasoning illustration, not an observed learner result. A score alone cannot distinguish these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app screenshot captured for this presentation. Guest mode with no learner history. Loop: wrong-question or topic entry, bounded prerequisite checks, honest outcome, targeted contrast and NCERT/teacher routing, immediate recheck and later review. Coverage is nine concept nodes, subject to content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mechanism, not an approved bank item: force magnitude 10 N. If angle 30 degrees is from horizontal, horizontal component is 10 cos(30 degrees). If angle is from vertical, horizontal component is 10 sin(30 degrees). Knowing a familiar formula is different from identifying its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illustrative prerequisite path, not an observed user result. Actual graph relationships: projectile depends on vector components and 1D kinematics. Vector components depend on trig and vector basics. The simplified diagram highlights the components branch only. Right: actual local concept-map interface, guest mode, not learner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permits suspected contributing gap, no prerequisite difficulty found, inconclusive, out of coverage and student-disputed outcomes. A successful immediate repair check establishes immediate performance only. No diagnostic certainty or retention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implementation sources: app/lib/mentor/run.ts, schemas.ts and tools.ts; app/lib/items.ts and app/lib/probe.ts. Bounded Cline SDK agents suggest entry/probe ordering/repair choice from structured context. Validation accepts a permitted suggestion or falls back. Only graded evidence changes state. Question-bank writer/solver code exists; human approval remains separate. Live model performance was not verified in this presentation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snapshot 10 October 2026: GRAPH has 9 nodes; content/qbank.json has 28 entries, including 27 authored diagnostic entries (9 A, 9 B1, 9 B2) and one additional verified entry. No bank entry has final status approved plus approvedBy. Current test run passed 247 tests across 28 files. TypeScript errors remain in a bank script/test fixtures. Neither unit tests nor bank counts establish learner gains, live integration success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planned validation step, not an existing pilot or measured result. Observe adult learners completing a diagnosis-to-recheck loop without coaching. Measure completion, abandonment, ability to explain the next action and later changed-context performance. Compare with the learner’s usual approach before claiming learning or efficiency gains.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snapshot 10 October 2026. Product source files and current vitest / TypeScript results. AI mode remains controlled adult-only. Provider suitability for minors remains an open gate. No legal compliance, school readiness or public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NTA: https://www.nta.ac.in/Download/Notice/Notice_20260420194021.pdf . ASER: https://asercentre.org/wp-content/uploads/2022/12/ASER-2024-National-findings.pdf . Local: app/content/graph.ts, app/content/qbank.json, app/lib/items.ts, app/lib/probe.ts, app/lib/mentor/run.ts and 10 Oct 2026 test/type-check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b077f061345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ba380876343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735196218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b30bd22594b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8d3febbd146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bccb2ae56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4E0CB-2679-4266-B381-61F572AE2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7545FB-8DA2-4FB8-BFF5-C67590C76F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8BBA36-7983-40DE-938B-5EF3498A5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1AAA97-FD04-4E44-9DF0-D080E3759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4A0168-6814-4935-8D37-B17698A7F6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F28509-91AE-4083-95B4-6AA075709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BF4215-F246-4CAA-9C6C-5C63242AA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E8B77A-1AEB-4DCA-85E8-BBA94ABA66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620D96-EF31-43BD-B3A1-200EF45E25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4D99A2-8668-40E8-AD54-03B32FCA97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9d6bedce4c43cc" /><Relationship Type="http://schemas.openxmlformats.org/officeDocument/2006/relationships/slideLayout" Target="/ppt/slideLayouts/slideLayout1.xml" Id="Re3a472698d584540" /><Relationship Type="http://schemas.openxmlformats.org/officeDocument/2006/relationships/slideLayout" Target="/ppt/slideLayouts/slideLayout2.xml" Id="R07547acdb2b24e65" /><Relationship Type="http://schemas.openxmlformats.org/officeDocument/2006/relationships/slideLayout" Target="/ppt/slideLayouts/slideLayout3.xml" Id="R32c582e28ba74b0c" /><Relationship Type="http://schemas.openxmlformats.org/officeDocument/2006/relationships/slideLayout" Target="/ppt/slideLayouts/slideLayout4.xml" Id="Rb45dd9b64f364c1e" /><Relationship Type="http://schemas.openxmlformats.org/officeDocument/2006/relationships/slideLayout" Target="/ppt/slideLayouts/slideLayout5.xml" Id="R03da7ae6898a49d0" /><Relationship Type="http://schemas.openxmlformats.org/officeDocument/2006/relationships/slideLayout" Target="/ppt/slideLayouts/slideLayout6.xml" Id="Re31afce6445e43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472698d584540"/>
    <p:sldLayoutId xmlns:r="http://schemas.openxmlformats.org/officeDocument/2006/relationships" id="2147483650" r:id="R07547acdb2b24e65"/>
    <p:sldLayoutId xmlns:r="http://schemas.openxmlformats.org/officeDocument/2006/relationships" id="2147483651" r:id="R32c582e28ba74b0c"/>
    <p:sldLayoutId xmlns:r="http://schemas.openxmlformats.org/officeDocument/2006/relationships" id="2147483652" r:id="Rb45dd9b64f364c1e"/>
    <p:sldLayoutId xmlns:r="http://schemas.openxmlformats.org/officeDocument/2006/relationships" id="2147483653" r:id="R03da7ae6898a49d0"/>
    <p:sldLayoutId xmlns:r="http://schemas.openxmlformats.org/officeDocument/2006/relationships" id="2147483654" r:id="Re31afce6445e43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3993fec494c2e" /><Relationship Type="http://schemas.openxmlformats.org/officeDocument/2006/relationships/notesSlide" Target="/ppt/notesSlides/notesSlide1.xml" Id="Rc377a90dc57144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e121002a44895" /><Relationship Type="http://schemas.openxmlformats.org/officeDocument/2006/relationships/notesSlide" Target="/ppt/notesSlides/notesSlide2.xml" Id="R070b4177110e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89670f12145da" /><Relationship Type="http://schemas.openxmlformats.org/officeDocument/2006/relationships/chart" Target="/ppt/slides/charts/chart1.xml" Id="R67a132497bd14d27" /><Relationship Type="http://schemas.openxmlformats.org/officeDocument/2006/relationships/notesSlide" Target="/ppt/notesSlides/notesSlide3.xml" Id="R4661f5372e3e40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de2ef26754393" /><Relationship Type="http://schemas.openxmlformats.org/officeDocument/2006/relationships/notesSlide" Target="/ppt/notesSlides/notesSlide4.xml" Id="R8d36cff572e34e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a824a0e21440c" /><Relationship Type="http://schemas.openxmlformats.org/officeDocument/2006/relationships/image" Target="/ppt/media/image.png" Id="R85e67ef5396b4430" /><Relationship Type="http://schemas.openxmlformats.org/officeDocument/2006/relationships/notesSlide" Target="/ppt/notesSlides/notesSlide5.xml" Id="R5beb537870bb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ca7e5441a4b55" /><Relationship Type="http://schemas.openxmlformats.org/officeDocument/2006/relationships/notesSlide" Target="/ppt/notesSlides/notesSlide6.xml" Id="Rbb9b0955814f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784da15e84c06" /><Relationship Type="http://schemas.openxmlformats.org/officeDocument/2006/relationships/image" Target="/ppt/media/image2.png" Id="Rdc6b231bd7894940" /><Relationship Type="http://schemas.openxmlformats.org/officeDocument/2006/relationships/notesSlide" Target="/ppt/notesSlides/notesSlide7.xml" Id="R1144066b34d3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b208e20ab410e" /><Relationship Type="http://schemas.openxmlformats.org/officeDocument/2006/relationships/notesSlide" Target="/ppt/notesSlides/notesSlide8.xml" Id="R16c3749f46fd44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dcf8fc47845b2" /><Relationship Type="http://schemas.openxmlformats.org/officeDocument/2006/relationships/notesSlide" Target="/ppt/notesSlides/notesSlide9.xml" Id="R5d0465b5c56349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54fbed5634377" /><Relationship Type="http://schemas.openxmlformats.org/officeDocument/2006/relationships/notesSlide" Target="/ppt/notesSlides/notesSlide10.xml" Id="Rdd1843c6a85f4a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6e9e08e7744b1" /><Relationship Type="http://schemas.openxmlformats.org/officeDocument/2006/relationships/notesSlide" Target="/ppt/notesSlides/notesSlide11.xml" Id="Rf575e46271d348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06ac255ac4555" /><Relationship Type="http://schemas.openxmlformats.org/officeDocument/2006/relationships/notesSlide" Target="/ppt/notesSlides/notesSlide12.xml" Id="R704ccb30184c4b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0b919cac04083" /><Relationship Type="http://schemas.openxmlformats.org/officeDocument/2006/relationships/hyperlink" Target="https://www.nta.ac.in/Download/Notice/Notice_20260420194021.pdf" TargetMode="External" Id="R35a986b7c4cd4ae5" /><Relationship Type="http://schemas.openxmlformats.org/officeDocument/2006/relationships/hyperlink" Target="https://asercentre.org/wp-content/uploads/2022/12/ASER-2024-National-findings.pdf" TargetMode="External" Id="R643e43f5178f45a6" /><Relationship Type="http://schemas.openxmlformats.org/officeDocument/2006/relationships/notesSlide" Target="/ppt/notesSlides/notesSlide13.xml" Id="R9cb99bfaafa741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Can do assessed division</c:v>
          </c:tx>
          <c:spPr>
            <a:solidFill xmlns:a="http://schemas.openxmlformats.org/drawingml/2006/main">
              <a:srgbClr val="24785A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2018</c:v>
                </c:pt>
                <c:pt idx="1">
                  <c:v>2022</c:v>
                </c:pt>
                <c:pt idx="2">
                  <c:v>2024</c:v>
                </c:pt>
              </c:numCache>
            </c:num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44.1</c:v>
                </c:pt>
                <c:pt idx="1">
                  <c:v>44.7</c:v>
                </c:pt>
                <c:pt idx="2">
                  <c:v>45.8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1453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4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4F7F9"/>
        </a:solidFill>
      </c:spPr>
    </c:plotArea>
    <c:plotVisOnly val="1"/>
  </c:chart>
  <c:spPr>
    <a:solidFill xmlns:a="http://schemas.openxmlformats.org/drawingml/2006/main">
      <a:srgbClr val="F4F7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7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A53318FC-D41A-4F69-A9AB-EB1204A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67AEA900-BDA6-4C3B-9F98-AA86D1B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5AB4226A-2FD6-4F83-8F46-3D4068B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A clearer next step&#10;after a wrong answer">
            <a:extLst xmlns:a="http://schemas.openxmlformats.org/drawingml/2006/main">
              <a:ext uri="{FF2B5EF4-FFF2-40B4-BE49-F238E27FC236}">
                <a16:creationId xmlns:a16="http://schemas.microsoft.com/office/drawing/2014/main" id="{2B503FB7-6A94-4BC6-9A72-560B87F7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 clearer next step</a:t>
            </a:r>
          </a:p>
          <a:p xmlns:a="http://schemas.openxmlformats.org/drawingml/2006/main">
            <a: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after a wrong answer</a:t>
            </a:r>
          </a:p>
        </p:txBody>
      </p:sp>
      <p:sp>
        <p:nvSpPr>
          <p:cNvPr id="5" name="JEE physics and mathematics diagnosis">
            <a:extLst xmlns:a="http://schemas.openxmlformats.org/drawingml/2006/main">
              <a:ext uri="{FF2B5EF4-FFF2-40B4-BE49-F238E27FC236}">
                <a16:creationId xmlns:a16="http://schemas.microsoft.com/office/drawing/2014/main" id="{7DAF600D-6051-49D9-B869-4D9B4C72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JEE physics and mathematics diagnosis</a:t>
            </a:r>
          </a:p>
        </p:txBody>
      </p:sp>
      <p:sp>
        <p:nvSpPr>
          <p:cNvPr id="6" name="Cline Hackathon Finals">
            <a:extLst xmlns:a="http://schemas.openxmlformats.org/drawingml/2006/main">
              <a:ext uri="{FF2B5EF4-FFF2-40B4-BE49-F238E27FC236}">
                <a16:creationId xmlns:a16="http://schemas.microsoft.com/office/drawing/2014/main" id="{C12FF4C2-D369-4C35-817B-F8175ECC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Cline Hackathon Finals</a:t>
            </a:r>
          </a:p>
        </p:txBody>
      </p:sp>
    </p:spTree>
    <p:extLst>
      <p:ext uri="{BB962C8B-B14F-4D97-AF65-F5344CB8AC3E}">
        <p14:creationId xmlns:p14="http://schemas.microsoft.com/office/powerpoint/2010/main" val="337851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scale of the study decision">
            <a:extLst xmlns:a="http://schemas.openxmlformats.org/drawingml/2006/main">
              <a:ext uri="{FF2B5EF4-FFF2-40B4-BE49-F238E27FC236}">
                <a16:creationId xmlns:a16="http://schemas.microsoft.com/office/drawing/2014/main" id="{E4C7C8F1-A5A8-4C43-A4E6-B8C57BC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scale of the study decision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FB14AB0B-5F21-4BF0-A68E-6CE5EDFA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F767064-8343-4624-9F22-E6D00E4D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16.05 lakh">
            <a:extLst xmlns:a="http://schemas.openxmlformats.org/drawingml/2006/main">
              <a:ext uri="{FF2B5EF4-FFF2-40B4-BE49-F238E27FC236}">
                <a16:creationId xmlns:a16="http://schemas.microsoft.com/office/drawing/2014/main" id="{793C0E42-2420-4349-87E9-876AFA2D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16.05 lakh</a:t>
            </a:r>
          </a:p>
        </p:txBody>
      </p:sp>
      <p:sp>
        <p:nvSpPr>
          <p:cNvPr id="5" name="Unique candidates registered for JEE Main 202">
            <a:extLst xmlns:a="http://schemas.openxmlformats.org/drawingml/2006/main">
              <a:ext uri="{FF2B5EF4-FFF2-40B4-BE49-F238E27FC236}">
                <a16:creationId xmlns:a16="http://schemas.microsoft.com/office/drawing/2014/main" id="{E2465AC8-5692-4C95-8648-F0C42FF5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Unique candidates registered for JEE Main 2026</a:t>
            </a:r>
          </a:p>
        </p:txBody>
      </p:sp>
      <p:sp>
        <p:nvSpPr>
          <p:cNvPr id="6" name="After a wrong answer, what should the learner">
            <a:extLst xmlns:a="http://schemas.openxmlformats.org/drawingml/2006/main">
              <a:ext uri="{FF2B5EF4-FFF2-40B4-BE49-F238E27FC236}">
                <a16:creationId xmlns:a16="http://schemas.microsoft.com/office/drawing/2014/main" id="{0A7507B0-39DB-4123-97C2-CBA4BB2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After a wrong answer, what should the learner study next?</a:t>
            </a:r>
          </a:p>
        </p:txBody>
      </p:sp>
      <p:sp>
        <p:nvSpPr>
          <p:cNvPr id="7" name="Source: NTA, 20 April 2026. Both sessions com">
            <a:extLst xmlns:a="http://schemas.openxmlformats.org/drawingml/2006/main">
              <a:ext uri="{FF2B5EF4-FFF2-40B4-BE49-F238E27FC236}">
                <a16:creationId xmlns:a16="http://schemas.microsoft.com/office/drawing/2014/main" id="{C2758827-A5BB-4033-97A8-CDAF4516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Source: NTA, 20 April 2026. Both sessions combined.</a:t>
            </a:r>
          </a:p>
        </p:txBody>
      </p:sp>
    </p:spTree>
    <p:extLst>
      <p:ext uri="{BB962C8B-B14F-4D97-AF65-F5344CB8AC3E}">
        <p14:creationId xmlns:p14="http://schemas.microsoft.com/office/powerpoint/2010/main" val="800101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undational gaps persist into Class VIII">
            <a:extLst xmlns:a="http://schemas.openxmlformats.org/drawingml/2006/main">
              <a:ext uri="{FF2B5EF4-FFF2-40B4-BE49-F238E27FC236}">
                <a16:creationId xmlns:a16="http://schemas.microsoft.com/office/drawing/2014/main" id="{D092AD9C-612C-4CC5-8C31-03048BA3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Foundational gaps persist into Class VIII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EA15405D-0E15-45B2-BB8A-2FAACEA0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CEE50BA3-AD98-4C82-AA50-770CC46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3CD18F0-7F1D-4061-95B7-B5A902F9B5B7}"/>
              </a:ext>
            </a:extLst>
          </p:cNvPr>
          <p:cNvGraphicFramePr/>
          <p:nvPr/>
        </p:nvGraphicFramePr>
        <p:xfrm>
          <a:off xmlns:a="http://schemas.openxmlformats.org/drawingml/2006/main" x="552450" y="1952625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a132497bd14d27"/>
          </a:graphicData>
        </a:graphic>
      </p:graphicFrame>
      <p:sp>
        <p:nvSpPr>
          <p:cNvPr id="5" name="45.8%">
            <a:extLst xmlns:a="http://schemas.openxmlformats.org/drawingml/2006/main">
              <a:ext uri="{FF2B5EF4-FFF2-40B4-BE49-F238E27FC236}">
                <a16:creationId xmlns:a16="http://schemas.microsoft.com/office/drawing/2014/main" id="{8C347161-7403-41C6-A0DE-2ED37D57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45.8%</a:t>
            </a:r>
          </a:p>
        </p:txBody>
      </p:sp>
      <p:sp>
        <p:nvSpPr>
          <p:cNvPr id="6" name="could do the assessed&#10;division task in 2024">
            <a:extLst xmlns:a="http://schemas.openxmlformats.org/drawingml/2006/main">
              <a:ext uri="{FF2B5EF4-FFF2-40B4-BE49-F238E27FC236}">
                <a16:creationId xmlns:a16="http://schemas.microsoft.com/office/drawing/2014/main" id="{F85736F6-C1A1-4AC5-8DED-D3C15C90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could do the assessed</a:t>
            </a:r>
          </a:p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division task in 2024</a:t>
            </a:r>
          </a:p>
        </p:txBody>
      </p:sp>
      <p:sp>
        <p:nvSpPr>
          <p:cNvPr id="7" name="Rural Class VIII students.&#10;Broader context, n">
            <a:extLst xmlns:a="http://schemas.openxmlformats.org/drawingml/2006/main">
              <a:ext uri="{FF2B5EF4-FFF2-40B4-BE49-F238E27FC236}">
                <a16:creationId xmlns:a16="http://schemas.microsoft.com/office/drawing/2014/main" id="{4BADD1B7-9C2B-43AE-8775-F04FB726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Rural Class VIII students.</a:t>
            </a:r>
          </a:p>
          <a:p xmlns:a="http://schemas.openxmlformats.org/drawingml/2006/main">
            <a: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Broader context, not a JEE study.</a:t>
            </a:r>
          </a:p>
        </p:txBody>
      </p:sp>
      <p:sp>
        <p:nvSpPr>
          <p:cNvPr id="8" name="Source: ASER 2024 National findings, pp. 47–4">
            <a:extLst xmlns:a="http://schemas.openxmlformats.org/drawingml/2006/main">
              <a:ext uri="{FF2B5EF4-FFF2-40B4-BE49-F238E27FC236}">
                <a16:creationId xmlns:a16="http://schemas.microsoft.com/office/drawing/2014/main" id="{4F5C2CF4-C211-479A-93E7-ACB87B3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Source: ASER 2024 National findings, pp. 47–48</a:t>
            </a:r>
          </a:p>
        </p:txBody>
      </p:sp>
    </p:spTree>
    <p:extLst>
      <p:ext uri="{BB962C8B-B14F-4D97-AF65-F5344CB8AC3E}">
        <p14:creationId xmlns:p14="http://schemas.microsoft.com/office/powerpoint/2010/main" val="12291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ne wrong answer, several explanations">
            <a:extLst xmlns:a="http://schemas.openxmlformats.org/drawingml/2006/main">
              <a:ext uri="{FF2B5EF4-FFF2-40B4-BE49-F238E27FC236}">
                <a16:creationId xmlns:a16="http://schemas.microsoft.com/office/drawing/2014/main" id="{06982C30-DD5A-41CD-9E1D-7375BFF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One wrong answer, several explanations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34A64740-0CC2-42B3-B192-75FA6101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84FAE65-C569-44F6-AF51-34DC93F0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" name="“I got the projectile&#10;question wrong.”">
            <a:extLst xmlns:a="http://schemas.openxmlformats.org/drawingml/2006/main">
              <a:ext uri="{FF2B5EF4-FFF2-40B4-BE49-F238E27FC236}">
                <a16:creationId xmlns:a16="http://schemas.microsoft.com/office/drawing/2014/main" id="{A833B047-651C-4FC4-826B-9F5748F0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“I got the projectile</a:t>
            </a:r>
          </a:p>
          <a:p xmlns:a="http://schemas.openxmlformats.org/drawingml/2006/main">
            <a: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question wrong.”</a:t>
            </a:r>
          </a:p>
        </p:txBody>
      </p:sp>
      <p:sp>
        <p:nvSpPr>
          <p:cNvPr id="5" name="Illustrative learner scenario">
            <a:extLst xmlns:a="http://schemas.openxmlformats.org/drawingml/2006/main">
              <a:ext uri="{FF2B5EF4-FFF2-40B4-BE49-F238E27FC236}">
                <a16:creationId xmlns:a16="http://schemas.microsoft.com/office/drawing/2014/main" id="{C120E402-1841-4BF9-BA51-C700215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learner scenario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D6A4D0B6-FB7E-482C-80D4-B37FE79A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An older concept needs attention">
            <a:extLst xmlns:a="http://schemas.openxmlformats.org/drawingml/2006/main">
              <a:ext uri="{FF2B5EF4-FFF2-40B4-BE49-F238E27FC236}">
                <a16:creationId xmlns:a16="http://schemas.microsoft.com/office/drawing/2014/main" id="{BCA27BFE-BA8D-4576-A83A-D8C98B1C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 older concept needs attention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4196385D-8D81-4952-A7DF-1ABE603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241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A known idea is hard to apply">
            <a:extLst xmlns:a="http://schemas.openxmlformats.org/drawingml/2006/main">
              <a:ext uri="{FF2B5EF4-FFF2-40B4-BE49-F238E27FC236}">
                <a16:creationId xmlns:a16="http://schemas.microsoft.com/office/drawing/2014/main" id="{08CC17CC-AF6B-4400-A0CD-1709F816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86075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known idea is hard to apply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B2FAEE74-1723-4A55-A0C3-9F0D51B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The chosen model does not fit">
            <a:extLst xmlns:a="http://schemas.openxmlformats.org/drawingml/2006/main">
              <a:ext uri="{FF2B5EF4-FFF2-40B4-BE49-F238E27FC236}">
                <a16:creationId xmlns:a16="http://schemas.microsoft.com/office/drawing/2014/main" id="{0AD1692A-967A-45B9-AC7E-A7374C0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338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chosen model does not fit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986D8DD1-3D89-4DC2-BDD4-F468F9E8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196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3" name="A condition was misread">
            <a:extLst xmlns:a="http://schemas.openxmlformats.org/drawingml/2006/main">
              <a:ext uri="{FF2B5EF4-FFF2-40B4-BE49-F238E27FC236}">
                <a16:creationId xmlns:a16="http://schemas.microsoft.com/office/drawing/2014/main" id="{48640DD9-6B23-414B-B19D-15649AD9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81525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condition was misread</a:t>
            </a:r>
          </a:p>
        </p:txBody>
      </p:sp>
      <p:sp>
        <p:nvSpPr>
          <p:cNvPr id="14" name="A score alone cannot select the right repair">
            <a:extLst xmlns:a="http://schemas.openxmlformats.org/drawingml/2006/main">
              <a:ext uri="{FF2B5EF4-FFF2-40B4-BE49-F238E27FC236}">
                <a16:creationId xmlns:a16="http://schemas.microsoft.com/office/drawing/2014/main" id="{C42EA2B4-ACA9-4EE9-95EA-D9D30FAC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score alone cannot select the right repair</a:t>
            </a:r>
          </a:p>
        </p:txBody>
      </p:sp>
    </p:spTree>
    <p:extLst>
      <p:ext uri="{BB962C8B-B14F-4D97-AF65-F5344CB8AC3E}">
        <p14:creationId xmlns:p14="http://schemas.microsoft.com/office/powerpoint/2010/main" val="1764704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diagnosis and repair loop">
            <a:extLst xmlns:a="http://schemas.openxmlformats.org/drawingml/2006/main">
              <a:ext uri="{FF2B5EF4-FFF2-40B4-BE49-F238E27FC236}">
                <a16:creationId xmlns:a16="http://schemas.microsoft.com/office/drawing/2014/main" id="{86ABC746-2D4E-41F7-A563-8929CB34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diagnosis and repair loop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E676E31B-D97D-43EC-A7DF-E2848573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B467C371-2B68-45F8-855B-C0DB6467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4" name="01   Start with a topic or mistake&#10;&#10;02   Chec">
            <a:extLst xmlns:a="http://schemas.openxmlformats.org/drawingml/2006/main">
              <a:ext uri="{FF2B5EF4-FFF2-40B4-BE49-F238E27FC236}">
                <a16:creationId xmlns:a16="http://schemas.microsoft.com/office/drawing/2014/main" id="{0756DCDB-62EC-4FFA-9FF2-7BDB2074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7148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01   Start with a topic or mistake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02   Check relevant prerequisites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03   Choose a focused repair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04   Check again and revisit later</a:t>
            </a:r>
          </a:p>
        </p:txBody>
      </p:sp>
      <p:sp>
        <p:nvSpPr>
          <p:cNvPr id="5" name="At most six diagnostic probes">
            <a:extLst xmlns:a="http://schemas.openxmlformats.org/drawingml/2006/main">
              <a:ext uri="{FF2B5EF4-FFF2-40B4-BE49-F238E27FC236}">
                <a16:creationId xmlns:a16="http://schemas.microsoft.com/office/drawing/2014/main" id="{8DE42D41-631D-4241-9225-AEC6988E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At most six diagnostic probes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10950-BA4C-4A85-A1ED-DD4F486E8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67ef5396b4430"/>
          <a:stretch xmlns:a="http://schemas.openxmlformats.org/drawingml/2006/main"/>
        </p:blipFill>
        <p:spPr>
          <a:xfrm xmlns:a="http://schemas.openxmlformats.org/drawingml/2006/main">
            <a:off x="5505450" y="1812396"/>
            <a:ext cx="6096000" cy="42333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55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nged context tests when a method applies">
            <a:extLst xmlns:a="http://schemas.openxmlformats.org/drawingml/2006/main">
              <a:ext uri="{FF2B5EF4-FFF2-40B4-BE49-F238E27FC236}">
                <a16:creationId xmlns:a16="http://schemas.microsoft.com/office/drawing/2014/main" id="{7F465FA6-2004-4709-970D-EBDE74D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Changed context tests when a method applies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6E62427F-683B-4C4A-A996-652CA49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2872040D-0079-4542-8C32-BEC8885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4" name="Angle measured from&#10;the horizontal">
            <a:extLst xmlns:a="http://schemas.openxmlformats.org/drawingml/2006/main">
              <a:ext uri="{FF2B5EF4-FFF2-40B4-BE49-F238E27FC236}">
                <a16:creationId xmlns:a16="http://schemas.microsoft.com/office/drawing/2014/main" id="{78D562B6-C85B-4BA9-8E46-D46F25B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Angle measured from</a:t>
            </a:r>
          </a:p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horizontal</a:t>
            </a:r>
          </a:p>
        </p:txBody>
      </p:sp>
      <p:sp>
        <p:nvSpPr>
          <p:cNvPr id="5" name="Angle measured from&#10;the vertical">
            <a:extLst xmlns:a="http://schemas.openxmlformats.org/drawingml/2006/main">
              <a:ext uri="{FF2B5EF4-FFF2-40B4-BE49-F238E27FC236}">
                <a16:creationId xmlns:a16="http://schemas.microsoft.com/office/drawing/2014/main" id="{883CD6C8-884F-4E96-9EF2-094A836A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193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Angle measured from</a:t>
            </a:r>
          </a:p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vertical</a:t>
            </a:r>
          </a:p>
        </p:txBody>
      </p:sp>
      <p:sp>
        <p:nvSpPr>
          <p:cNvPr id="6" name="Fₓ = 10 cos 30°">
            <a:extLst xmlns:a="http://schemas.openxmlformats.org/drawingml/2006/main">
              <a:ext uri="{FF2B5EF4-FFF2-40B4-BE49-F238E27FC236}">
                <a16:creationId xmlns:a16="http://schemas.microsoft.com/office/drawing/2014/main" id="{3879D0AB-4A49-4C42-8020-4683EF92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Fₓ = 10 cos 30°</a:t>
            </a:r>
          </a:p>
        </p:txBody>
      </p:sp>
      <p:sp>
        <p:nvSpPr>
          <p:cNvPr id="7" name="Fₓ = 10 sin 30°">
            <a:extLst xmlns:a="http://schemas.openxmlformats.org/drawingml/2006/main">
              <a:ext uri="{FF2B5EF4-FFF2-40B4-BE49-F238E27FC236}">
                <a16:creationId xmlns:a16="http://schemas.microsoft.com/office/drawing/2014/main" id="{347F35C5-6B92-4E3F-A41A-0740E919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909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Fₓ = 10 sin 30°</a:t>
            </a:r>
          </a:p>
        </p:txBody>
      </p:sp>
      <p:sp>
        <p:nvSpPr>
          <p:cNvPr id="8" name="The reference axis changed.&#10;Does the method c">
            <a:extLst xmlns:a="http://schemas.openxmlformats.org/drawingml/2006/main">
              <a:ext uri="{FF2B5EF4-FFF2-40B4-BE49-F238E27FC236}">
                <a16:creationId xmlns:a16="http://schemas.microsoft.com/office/drawing/2014/main" id="{B9538E7C-4CB2-4ECF-BA11-DC8A459C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reference axis changed.</a:t>
            </a:r>
          </a:p>
          <a:p xmlns:a="http://schemas.openxmlformats.org/drawingml/2006/main">
            <a: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Does the method change with it?</a:t>
            </a:r>
          </a:p>
        </p:txBody>
      </p:sp>
      <p:sp>
        <p:nvSpPr>
          <p:cNvPr id="9" name="Illustrative check: a 10 N force in the first">
            <a:extLst xmlns:a="http://schemas.openxmlformats.org/drawingml/2006/main">
              <a:ext uri="{FF2B5EF4-FFF2-40B4-BE49-F238E27FC236}">
                <a16:creationId xmlns:a16="http://schemas.microsoft.com/office/drawing/2014/main" id="{7D4CC300-8A66-4EAF-9A37-D98EE21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check: a 10 N force in the first quadrant</a:t>
            </a:r>
          </a:p>
        </p:txBody>
      </p:sp>
    </p:spTree>
    <p:extLst>
      <p:ext uri="{BB962C8B-B14F-4D97-AF65-F5344CB8AC3E}">
        <p14:creationId xmlns:p14="http://schemas.microsoft.com/office/powerpoint/2010/main" val="661081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A6794-0659-4DA4-ABFC-3D365147307A}"/>
              </a:ext>
            </a:extLst>
          </p:cNvPr>
          <p:cNvCxnSpPr>
            <a:stCxn xmlns:a="http://schemas.openxmlformats.org/drawingml/2006/main" id="7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3190875" y="4048125"/>
            <a:ext cx="1404938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5D2AB-914D-4C55-AFB5-053E7BA72853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1847850" y="4048125"/>
            <a:ext cx="134302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BB558-2891-4259-9870-960DA4137557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190875" y="26765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sp>
        <p:nvSpPr>
          <p:cNvPr id="14" name="The concept behind the mistake">
            <a:extLst xmlns:a="http://schemas.openxmlformats.org/drawingml/2006/main">
              <a:ext uri="{FF2B5EF4-FFF2-40B4-BE49-F238E27FC236}">
                <a16:creationId xmlns:a16="http://schemas.microsoft.com/office/drawing/2014/main" id="{5EC3A70E-2F65-4B90-91DE-86C8D35C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concept behind the mistake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0456E9E5-1090-437F-B8CD-E1D86B8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376C5FEF-9D2A-40D3-9D59-47CCCC2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36C82-D951-457D-B719-3A9C4682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31453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Projectile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C306E-A03B-43FC-A856-49692833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004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856529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rPr>
              <a:t>Vector 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048C6-68EE-4189-BC6C-B73E057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C3D71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Trigonometric ratios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BF865-71B8-4915-9628-632719D9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91075"/>
            <a:ext cx="2143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C3D71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Vector basics</a:t>
            </a:r>
          </a:p>
        </p:txBody>
      </p:sp>
      <p:sp>
        <p:nvSpPr>
          <p:cNvPr id="11" name="A suspected gap guides the next check">
            <a:extLst xmlns:a="http://schemas.openxmlformats.org/drawingml/2006/main">
              <a:ext uri="{FF2B5EF4-FFF2-40B4-BE49-F238E27FC236}">
                <a16:creationId xmlns:a16="http://schemas.microsoft.com/office/drawing/2014/main" id="{770A1339-3F39-4B22-B88B-452E856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rPr>
              <a:t>A suspected gap guides the next check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38321-1A4A-4D16-81CA-814AA5A41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b231bd7894940"/>
          <a:stretch xmlns:a="http://schemas.openxmlformats.org/drawingml/2006/main"/>
        </p:blipFill>
        <p:spPr>
          <a:xfrm xmlns:a="http://schemas.openxmlformats.org/drawingml/2006/main">
            <a:off x="6191250" y="1888596"/>
            <a:ext cx="5410200" cy="3757083"/>
          </a:xfrm>
          <a:prstGeom xmlns:a="http://schemas.openxmlformats.org/drawingml/2006/main" prst="rect">
            <a:avLst/>
          </a:prstGeom>
        </p:spPr>
      </p:pic>
      <p:sp>
        <p:nvSpPr>
          <p:cNvPr id="13" name="Illustrative path; actual interface at right">
            <a:extLst xmlns:a="http://schemas.openxmlformats.org/drawingml/2006/main">
              <a:ext uri="{FF2B5EF4-FFF2-40B4-BE49-F238E27FC236}">
                <a16:creationId xmlns:a16="http://schemas.microsoft.com/office/drawing/2014/main" id="{B62E7ED2-BF2F-4E23-A375-EE4D57B3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9775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path; actual interface at right</a:t>
            </a:r>
          </a:p>
        </p:txBody>
      </p:sp>
    </p:spTree>
    <p:extLst>
      <p:ext uri="{BB962C8B-B14F-4D97-AF65-F5344CB8AC3E}">
        <p14:creationId xmlns:p14="http://schemas.microsoft.com/office/powerpoint/2010/main" val="2001455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diagnosis the learner can dispute">
            <a:extLst xmlns:a="http://schemas.openxmlformats.org/drawingml/2006/main">
              <a:ext uri="{FF2B5EF4-FFF2-40B4-BE49-F238E27FC236}">
                <a16:creationId xmlns:a16="http://schemas.microsoft.com/office/drawing/2014/main" id="{D9F350DF-5E46-4DA7-BB0C-3B2635F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diagnosis the learner can dispute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3E5278F0-1548-413A-8625-DCE84F7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31B39873-758F-40BE-9212-91C72F3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4" name="Suspected contributing gap">
            <a:extLst xmlns:a="http://schemas.openxmlformats.org/drawingml/2006/main">
              <a:ext uri="{FF2B5EF4-FFF2-40B4-BE49-F238E27FC236}">
                <a16:creationId xmlns:a16="http://schemas.microsoft.com/office/drawing/2014/main" id="{F7460B2F-D16B-4C38-8751-48047DF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Suspected contributing gap</a:t>
            </a:r>
          </a:p>
        </p:txBody>
      </p:sp>
      <p:sp>
        <p:nvSpPr>
          <p:cNvPr id="5" name="No prerequisite difficulty found">
            <a:extLst xmlns:a="http://schemas.openxmlformats.org/drawingml/2006/main">
              <a:ext uri="{FF2B5EF4-FFF2-40B4-BE49-F238E27FC236}">
                <a16:creationId xmlns:a16="http://schemas.microsoft.com/office/drawing/2014/main" id="{BD94A798-2F28-401E-ADAB-E685983F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No prerequisite difficulty found</a:t>
            </a:r>
          </a:p>
        </p:txBody>
      </p:sp>
      <p:sp>
        <p:nvSpPr>
          <p:cNvPr id="6" name="Inconclusive or outside coverage">
            <a:extLst xmlns:a="http://schemas.openxmlformats.org/drawingml/2006/main">
              <a:ext uri="{FF2B5EF4-FFF2-40B4-BE49-F238E27FC236}">
                <a16:creationId xmlns:a16="http://schemas.microsoft.com/office/drawing/2014/main" id="{BAEFA6DC-DF60-4B8B-A4FC-EEC3E386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Inconclusive or outside coverage</a:t>
            </a:r>
          </a:p>
        </p:txBody>
      </p:sp>
      <p:sp>
        <p:nvSpPr>
          <p:cNvPr id="7" name="The learner can dispute the explanation">
            <a:extLst xmlns:a="http://schemas.openxmlformats.org/drawingml/2006/main">
              <a:ext uri="{FF2B5EF4-FFF2-40B4-BE49-F238E27FC236}">
                <a16:creationId xmlns:a16="http://schemas.microsoft.com/office/drawing/2014/main" id="{AF83CAAF-C19C-48F9-8197-0246C749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learner can dispute the explanation</a:t>
            </a:r>
          </a:p>
        </p:txBody>
      </p:sp>
      <p:sp>
        <p:nvSpPr>
          <p:cNvPr id="8" name="Immediate check passed; retention untested">
            <a:extLst xmlns:a="http://schemas.openxmlformats.org/drawingml/2006/main">
              <a:ext uri="{FF2B5EF4-FFF2-40B4-BE49-F238E27FC236}">
                <a16:creationId xmlns:a16="http://schemas.microsoft.com/office/drawing/2014/main" id="{D51FF5DD-AA07-4C1B-93EC-E66F581A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Immediate check passed; retention untested</a:t>
            </a:r>
          </a:p>
        </p:txBody>
      </p:sp>
    </p:spTree>
    <p:extLst>
      <p:ext uri="{BB962C8B-B14F-4D97-AF65-F5344CB8AC3E}">
        <p14:creationId xmlns:p14="http://schemas.microsoft.com/office/powerpoint/2010/main" val="2044015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64E77-1448-4252-9730-73AFD32329D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10450" y="31813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85A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B6262-70CC-4CFE-AF3C-78C5A476D4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31813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85A"/>
            </a:solidFill>
          </a:ln>
        </p:spPr>
      </p:cxnSp>
      <p:sp>
        <p:nvSpPr>
          <p:cNvPr id="14" name="Cline suggests the route">
            <a:extLst xmlns:a="http://schemas.openxmlformats.org/drawingml/2006/main">
              <a:ext uri="{FF2B5EF4-FFF2-40B4-BE49-F238E27FC236}">
                <a16:creationId xmlns:a16="http://schemas.microsoft.com/office/drawing/2014/main" id="{6ED172CF-0886-461C-AE88-8EB02661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Cline suggests the route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09B54F3E-EA43-446D-B47D-5060DDEF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4570F5CF-873C-4C55-B4B8-6332FDC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4" name="Code controls the evidence">
            <a:extLst xmlns:a="http://schemas.openxmlformats.org/drawingml/2006/main">
              <a:ext uri="{FF2B5EF4-FFF2-40B4-BE49-F238E27FC236}">
                <a16:creationId xmlns:a16="http://schemas.microsoft.com/office/drawing/2014/main" id="{0743A697-8230-4A0F-B8F0-320F454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Code controls the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BA15E-C42B-4D3A-A6C2-7580ECF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31453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Student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2EDC6-7E65-4CBC-97EC-E31D9E8D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4785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Server grading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F0881-40A4-405F-8C1A-847EB12E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4785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Evidence state</a:t>
            </a:r>
          </a:p>
        </p:txBody>
      </p:sp>
      <p:sp>
        <p:nvSpPr>
          <p:cNvPr id="10" name="Cline SDK suggestions">
            <a:extLst xmlns:a="http://schemas.openxmlformats.org/drawingml/2006/main">
              <a:ext uri="{FF2B5EF4-FFF2-40B4-BE49-F238E27FC236}">
                <a16:creationId xmlns:a16="http://schemas.microsoft.com/office/drawing/2014/main" id="{EE30C172-125B-483B-A847-BEBC518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Cline SDK suggestions</a:t>
            </a:r>
          </a:p>
        </p:txBody>
      </p:sp>
      <p:sp>
        <p:nvSpPr>
          <p:cNvPr id="11" name="Probe order and repair choice&#10;Validated befor">
            <a:extLst xmlns:a="http://schemas.openxmlformats.org/drawingml/2006/main">
              <a:ext uri="{FF2B5EF4-FFF2-40B4-BE49-F238E27FC236}">
                <a16:creationId xmlns:a16="http://schemas.microsoft.com/office/drawing/2014/main" id="{B57FE871-5EE6-43CC-9899-7BA96D9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687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Probe order and repair choice</a:t>
            </a:r>
          </a:p>
          <a:p xmlns:a="http://schemas.openxmlformats.org/drawingml/2006/main">
            <a: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Validated before use; deterministic fallback</a:t>
            </a:r>
          </a:p>
        </p:txBody>
      </p:sp>
      <p:sp>
        <p:nvSpPr>
          <p:cNvPr id="12" name="Also implemented: question-bank writer / solv">
            <a:extLst xmlns:a="http://schemas.openxmlformats.org/drawingml/2006/main">
              <a:ext uri="{FF2B5EF4-FFF2-40B4-BE49-F238E27FC236}">
                <a16:creationId xmlns:a16="http://schemas.microsoft.com/office/drawing/2014/main" id="{67CDFC82-4C98-40F3-A263-87CCF43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Also implemented: question-bank writer / solver pipeline with an approval gate</a:t>
            </a:r>
          </a:p>
        </p:txBody>
      </p:sp>
      <p:sp>
        <p:nvSpPr>
          <p:cNvPr id="13" name="Live model performance remains unverified in ">
            <a:extLst xmlns:a="http://schemas.openxmlformats.org/drawingml/2006/main">
              <a:ext uri="{FF2B5EF4-FFF2-40B4-BE49-F238E27FC236}">
                <a16:creationId xmlns:a16="http://schemas.microsoft.com/office/drawing/2014/main" id="{F1B64D5B-D0AF-446F-A287-F7D4341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Live model performance remains unverified in this snapshot</a:t>
            </a:r>
          </a:p>
        </p:txBody>
      </p:sp>
    </p:spTree>
    <p:extLst>
      <p:ext uri="{BB962C8B-B14F-4D97-AF65-F5344CB8AC3E}">
        <p14:creationId xmlns:p14="http://schemas.microsoft.com/office/powerpoint/2010/main" val="14457806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core mechanism is implemented">
            <a:extLst xmlns:a="http://schemas.openxmlformats.org/drawingml/2006/main">
              <a:ext uri="{FF2B5EF4-FFF2-40B4-BE49-F238E27FC236}">
                <a16:creationId xmlns:a16="http://schemas.microsoft.com/office/drawing/2014/main" id="{B1E187D4-F318-4896-9B38-A986B90D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core mechanism is implemented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00BB582A-24FD-42D9-9312-5AE2823A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6236839F-8890-4954-9D2E-DF358E48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4" name="9">
            <a:extLst xmlns:a="http://schemas.openxmlformats.org/drawingml/2006/main">
              <a:ext uri="{FF2B5EF4-FFF2-40B4-BE49-F238E27FC236}">
                <a16:creationId xmlns:a16="http://schemas.microsoft.com/office/drawing/2014/main" id="{D4904AFF-DE79-4291-9306-5354326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5" name="concept nodes">
            <a:extLst xmlns:a="http://schemas.openxmlformats.org/drawingml/2006/main">
              <a:ext uri="{FF2B5EF4-FFF2-40B4-BE49-F238E27FC236}">
                <a16:creationId xmlns:a16="http://schemas.microsoft.com/office/drawing/2014/main" id="{D1961DF3-F7F5-4DA4-9B40-D0503A2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concept nodes</a:t>
            </a:r>
          </a:p>
        </p:txBody>
      </p:sp>
      <p:sp>
        <p:nvSpPr>
          <p:cNvPr id="6" name="27">
            <a:extLst xmlns:a="http://schemas.openxmlformats.org/drawingml/2006/main">
              <a:ext uri="{FF2B5EF4-FFF2-40B4-BE49-F238E27FC236}">
                <a16:creationId xmlns:a16="http://schemas.microsoft.com/office/drawing/2014/main" id="{60F4DA18-C4D8-451A-9670-9CA69065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7" name="authored diagnostic entries">
            <a:extLst xmlns:a="http://schemas.openxmlformats.org/drawingml/2006/main">
              <a:ext uri="{FF2B5EF4-FFF2-40B4-BE49-F238E27FC236}">
                <a16:creationId xmlns:a16="http://schemas.microsoft.com/office/drawing/2014/main" id="{6D606B42-988F-41CD-B452-FB4FCAAF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authored diagnostic entries</a:t>
            </a:r>
          </a:p>
        </p:txBody>
      </p:sp>
      <p:sp>
        <p:nvSpPr>
          <p:cNvPr id="8" name="247">
            <a:extLst xmlns:a="http://schemas.openxmlformats.org/drawingml/2006/main">
              <a:ext uri="{FF2B5EF4-FFF2-40B4-BE49-F238E27FC236}">
                <a16:creationId xmlns:a16="http://schemas.microsoft.com/office/drawing/2014/main" id="{97D3219D-9C0B-437C-9E16-82F2C7D2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247</a:t>
            </a:r>
          </a:p>
        </p:txBody>
      </p:sp>
      <p:sp>
        <p:nvSpPr>
          <p:cNvPr id="9" name="passing automated tests">
            <a:extLst xmlns:a="http://schemas.openxmlformats.org/drawingml/2006/main">
              <a:ext uri="{FF2B5EF4-FFF2-40B4-BE49-F238E27FC236}">
                <a16:creationId xmlns:a16="http://schemas.microsoft.com/office/drawing/2014/main" id="{3F7FCCDC-26D9-4087-B7FA-E6311B5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passing automated tests</a:t>
            </a:r>
          </a:p>
        </p:txBody>
      </p:sp>
      <p:sp>
        <p:nvSpPr>
          <p:cNvPr id="10" name="0">
            <a:extLst xmlns:a="http://schemas.openxmlformats.org/drawingml/2006/main">
              <a:ext uri="{FF2B5EF4-FFF2-40B4-BE49-F238E27FC236}">
                <a16:creationId xmlns:a16="http://schemas.microsoft.com/office/drawing/2014/main" id="{08B49105-162C-4A8A-BAEB-18FF016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1" name="final content approvals">
            <a:extLst xmlns:a="http://schemas.openxmlformats.org/drawingml/2006/main">
              <a:ext uri="{FF2B5EF4-FFF2-40B4-BE49-F238E27FC236}">
                <a16:creationId xmlns:a16="http://schemas.microsoft.com/office/drawing/2014/main" id="{3261BED0-906F-45CF-B1E8-C52B7EE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final content approvals</a:t>
            </a:r>
          </a:p>
        </p:txBody>
      </p:sp>
      <p:sp>
        <p:nvSpPr>
          <p:cNvPr id="12" name="Controlled local prototype. Educator review a">
            <a:extLst xmlns:a="http://schemas.openxmlformats.org/drawingml/2006/main">
              <a:ext uri="{FF2B5EF4-FFF2-40B4-BE49-F238E27FC236}">
                <a16:creationId xmlns:a16="http://schemas.microsoft.com/office/drawing/2014/main" id="{84E55706-4FC3-4E49-A730-803CE14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Controlled local prototype. Educator review and learner validation are next.</a:t>
            </a:r>
          </a:p>
        </p:txBody>
      </p:sp>
    </p:spTree>
    <p:extLst>
      <p:ext uri="{BB962C8B-B14F-4D97-AF65-F5344CB8AC3E}">
        <p14:creationId xmlns:p14="http://schemas.microsoft.com/office/powerpoint/2010/main" val="1743338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7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7C5079D1-B6B7-47BD-A89E-C772C7C6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EC5087AB-4EAE-47BD-A10F-94FCE7D8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A next study step&#10;the learner can explain">
            <a:extLst xmlns:a="http://schemas.openxmlformats.org/drawingml/2006/main">
              <a:ext uri="{FF2B5EF4-FFF2-40B4-BE49-F238E27FC236}">
                <a16:creationId xmlns:a16="http://schemas.microsoft.com/office/drawing/2014/main" id="{F3932033-4C45-4017-9AB8-33CAB6A4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108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 next study step</a:t>
            </a:r>
          </a:p>
          <a:p xmlns:a="http://schemas.openxmlformats.org/drawingml/2006/main">
            <a: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the learner can explain</a:t>
            </a:r>
          </a:p>
        </p:txBody>
      </p:sp>
      <p:sp>
        <p:nvSpPr>
          <p:cNvPr id="4" name="Planned validation">
            <a:extLst xmlns:a="http://schemas.openxmlformats.org/drawingml/2006/main">
              <a:ext uri="{FF2B5EF4-FFF2-40B4-BE49-F238E27FC236}">
                <a16:creationId xmlns:a16="http://schemas.microsoft.com/office/drawing/2014/main" id="{BFC5809A-A7B9-4AFC-969F-233E1010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Planned validation</a:t>
            </a:r>
          </a:p>
        </p:txBody>
      </p:sp>
      <p:sp>
        <p:nvSpPr>
          <p:cNvPr id="5" name="Observe an adult learner complete the loop wi">
            <a:extLst xmlns:a="http://schemas.openxmlformats.org/drawingml/2006/main">
              <a:ext uri="{FF2B5EF4-FFF2-40B4-BE49-F238E27FC236}">
                <a16:creationId xmlns:a16="http://schemas.microsoft.com/office/drawing/2014/main" id="{7AF03072-84F7-4C84-9722-8B770BD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Observe an adult learner complete the loop without coaching.</a:t>
            </a:r>
          </a:p>
          <a:p xmlns:a="http://schemas.openxmlformats.org/drawingml/2006/main">
            <a: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Check whether the route improves their next study decision.</a:t>
            </a:r>
          </a:p>
        </p:txBody>
      </p:sp>
      <p:sp>
        <p:nvSpPr>
          <p:cNvPr id="6" name="Watch the controlled demo">
            <a:extLst xmlns:a="http://schemas.openxmlformats.org/drawingml/2006/main">
              <a:ext uri="{FF2B5EF4-FFF2-40B4-BE49-F238E27FC236}">
                <a16:creationId xmlns:a16="http://schemas.microsoft.com/office/drawing/2014/main" id="{100DCDE3-1B98-4178-B7EA-21459FC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Watch the controlled demo</a:t>
            </a:r>
          </a:p>
        </p:txBody>
      </p:sp>
    </p:spTree>
    <p:extLst>
      <p:ext uri="{BB962C8B-B14F-4D97-AF65-F5344CB8AC3E}">
        <p14:creationId xmlns:p14="http://schemas.microsoft.com/office/powerpoint/2010/main" val="685493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adiness and limits">
            <a:extLst xmlns:a="http://schemas.openxmlformats.org/drawingml/2006/main">
              <a:ext uri="{FF2B5EF4-FFF2-40B4-BE49-F238E27FC236}">
                <a16:creationId xmlns:a16="http://schemas.microsoft.com/office/drawing/2014/main" id="{476E71D1-FA51-45F2-825A-8DD87C8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Readiness and limits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6D47FFC6-722B-400E-A726-CD14D73B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096BF33E-CF2F-47C8-A67E-53809D71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4" name="Implemented">
            <a:extLst xmlns:a="http://schemas.openxmlformats.org/drawingml/2006/main">
              <a:ext uri="{FF2B5EF4-FFF2-40B4-BE49-F238E27FC236}">
                <a16:creationId xmlns:a16="http://schemas.microsoft.com/office/drawing/2014/main" id="{3884E3A8-A3DE-4DD4-AD75-B5E6B040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Implemented</a:t>
            </a:r>
          </a:p>
        </p:txBody>
      </p:sp>
      <p:sp>
        <p:nvSpPr>
          <p:cNvPr id="5" name="Evidence engine, server grading, concept map,">
            <a:extLst xmlns:a="http://schemas.openxmlformats.org/drawingml/2006/main">
              <a:ext uri="{FF2B5EF4-FFF2-40B4-BE49-F238E27FC236}">
                <a16:creationId xmlns:a16="http://schemas.microsoft.com/office/drawing/2014/main" id="{C360FE00-7F67-490C-A73F-D622A51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Evidence engine, server grading, concept map, profiles, review scheduling</a:t>
            </a:r>
          </a:p>
        </p:txBody>
      </p:sp>
      <p:sp>
        <p:nvSpPr>
          <p:cNvPr id="6" name="Content gate">
            <a:extLst xmlns:a="http://schemas.openxmlformats.org/drawingml/2006/main">
              <a:ext uri="{FF2B5EF4-FFF2-40B4-BE49-F238E27FC236}">
                <a16:creationId xmlns:a16="http://schemas.microsoft.com/office/drawing/2014/main" id="{BFCBE345-16AA-4E62-9580-A5D19DA0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Content gate</a:t>
            </a:r>
          </a:p>
        </p:txBody>
      </p:sp>
      <p:sp>
        <p:nvSpPr>
          <p:cNvPr id="7" name="27 authored diagnostic entries plus 1 other e">
            <a:extLst xmlns:a="http://schemas.openxmlformats.org/drawingml/2006/main">
              <a:ext uri="{FF2B5EF4-FFF2-40B4-BE49-F238E27FC236}">
                <a16:creationId xmlns:a16="http://schemas.microsoft.com/office/drawing/2014/main" id="{19ABA120-C57C-4027-AAAD-E698CC4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27 authored diagnostic entries plus 1 other entry; 0 final approvals</a:t>
            </a:r>
          </a:p>
        </p:txBody>
      </p:sp>
      <p:sp>
        <p:nvSpPr>
          <p:cNvPr id="8" name="Engineering">
            <a:extLst xmlns:a="http://schemas.openxmlformats.org/drawingml/2006/main">
              <a:ext uri="{FF2B5EF4-FFF2-40B4-BE49-F238E27FC236}">
                <a16:creationId xmlns:a16="http://schemas.microsoft.com/office/drawing/2014/main" id="{21CB0C83-CB4E-4C95-93BA-518391B2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Engineering</a:t>
            </a:r>
          </a:p>
        </p:txBody>
      </p:sp>
      <p:sp>
        <p:nvSpPr>
          <p:cNvPr id="9" name="247 tests passed; TypeScript issues remain in">
            <a:extLst xmlns:a="http://schemas.openxmlformats.org/drawingml/2006/main">
              <a:ext uri="{FF2B5EF4-FFF2-40B4-BE49-F238E27FC236}">
                <a16:creationId xmlns:a16="http://schemas.microsoft.com/office/drawing/2014/main" id="{98D3600F-4BC6-4087-921E-5AAAC8E7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247 tests passed; TypeScript issues remain in script and test fixtures</a:t>
            </a:r>
          </a:p>
        </p:txBody>
      </p:sp>
      <p:sp>
        <p:nvSpPr>
          <p:cNvPr id="10" name="Still to verify">
            <a:extLst xmlns:a="http://schemas.openxmlformats.org/drawingml/2006/main">
              <a:ext uri="{FF2B5EF4-FFF2-40B4-BE49-F238E27FC236}">
                <a16:creationId xmlns:a16="http://schemas.microsoft.com/office/drawing/2014/main" id="{51FEE976-701D-49FD-8334-64D950A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Still to verify</a:t>
            </a:r>
          </a:p>
        </p:txBody>
      </p:sp>
      <p:sp>
        <p:nvSpPr>
          <p:cNvPr id="11" name="Live SDK performance, clean production build ">
            <a:extLst xmlns:a="http://schemas.openxmlformats.org/drawingml/2006/main">
              <a:ext uri="{FF2B5EF4-FFF2-40B4-BE49-F238E27FC236}">
                <a16:creationId xmlns:a16="http://schemas.microsoft.com/office/drawing/2014/main" id="{BAA8AE75-561C-4E33-9C97-69ACF5F2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Live SDK performance, clean production build and learner outcomes</a:t>
            </a:r>
          </a:p>
        </p:txBody>
      </p:sp>
      <p:sp>
        <p:nvSpPr>
          <p:cNvPr id="12" name="Deployment">
            <a:extLst xmlns:a="http://schemas.openxmlformats.org/drawingml/2006/main">
              <a:ext uri="{FF2B5EF4-FFF2-40B4-BE49-F238E27FC236}">
                <a16:creationId xmlns:a16="http://schemas.microsoft.com/office/drawing/2014/main" id="{A14F4B35-EAAB-47EF-8AFF-DD2ADF5D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13" name="Local controlled prototype; AI access restric">
            <a:extLst xmlns:a="http://schemas.openxmlformats.org/drawingml/2006/main">
              <a:ext uri="{FF2B5EF4-FFF2-40B4-BE49-F238E27FC236}">
                <a16:creationId xmlns:a16="http://schemas.microsoft.com/office/drawing/2014/main" id="{F5ADB9A6-D591-479F-8E65-6DF7315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Local controlled prototype; AI access restricted to adults</a:t>
            </a:r>
          </a:p>
        </p:txBody>
      </p:sp>
    </p:spTree>
    <p:extLst>
      <p:ext uri="{BB962C8B-B14F-4D97-AF65-F5344CB8AC3E}">
        <p14:creationId xmlns:p14="http://schemas.microsoft.com/office/powerpoint/2010/main" val="84873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ources and evidence definitions">
            <a:extLst xmlns:a="http://schemas.openxmlformats.org/drawingml/2006/main">
              <a:ext uri="{FF2B5EF4-FFF2-40B4-BE49-F238E27FC236}">
                <a16:creationId xmlns:a16="http://schemas.microsoft.com/office/drawing/2014/main" id="{CE5F29FB-C655-403C-B23C-AB7E4D17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Sources and evidence definitions</a:t>
            </a:r>
          </a:p>
        </p:txBody>
      </p:sp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4A305C80-DADA-4F0A-BB36-11ADF610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DB893FDB-24C6-4D6D-B032-83406229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4" name="NTA  ·  JEE Main 2026">
            <a:extLst xmlns:a="http://schemas.openxmlformats.org/drawingml/2006/main">
              <a:ext uri="{FF2B5EF4-FFF2-40B4-BE49-F238E27FC236}">
                <a16:creationId xmlns:a16="http://schemas.microsoft.com/office/drawing/2014/main" id="{0308C89C-A046-4C88-93D9-3371937A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NTA  ·  JEE Main 2026</a:t>
            </a:r>
          </a:p>
        </p:txBody>
      </p:sp>
      <p:sp>
        <p:nvSpPr>
          <p:cNvPr id="5" name="Unique registrations across both sessions, pr">
            <a:extLst xmlns:a="http://schemas.openxmlformats.org/drawingml/2006/main">
              <a:ext uri="{FF2B5EF4-FFF2-40B4-BE49-F238E27FC236}">
                <a16:creationId xmlns:a16="http://schemas.microsoft.com/office/drawing/2014/main" id="{4883742E-4057-44A4-99C2-DDA5E2C2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Unique registrations across both sessions, press release 20 April 2026</a:t>
            </a:r>
          </a:p>
        </p:txBody>
      </p:sp>
      <p:sp>
        <p:nvSpPr>
          <p:cNvPr id="6" name="Official NTA press release">
            <a:extLst xmlns:a="http://schemas.openxmlformats.org/drawingml/2006/main">
              <a:ext uri="{FF2B5EF4-FFF2-40B4-BE49-F238E27FC236}">
                <a16:creationId xmlns:a16="http://schemas.microsoft.com/office/drawing/2014/main" id="{785818E8-41EF-40A0-BF46-08412473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35a986b7c4cd4ae5"/>
              </a:rPr>
              <a:t>Official NTA press release</a:t>
            </a:r>
          </a:p>
        </p:txBody>
      </p:sp>
      <p:sp>
        <p:nvSpPr>
          <p:cNvPr id="7" name="ASER 2024  ·  National findings, pp. 47–48">
            <a:extLst xmlns:a="http://schemas.openxmlformats.org/drawingml/2006/main">
              <a:ext uri="{FF2B5EF4-FFF2-40B4-BE49-F238E27FC236}">
                <a16:creationId xmlns:a16="http://schemas.microsoft.com/office/drawing/2014/main" id="{B5565A9C-FAAF-4BB0-8A79-B9AEE780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ASER 2024  ·  National findings, pp. 47–48</a:t>
            </a:r>
          </a:p>
        </p:txBody>
      </p:sp>
      <p:sp>
        <p:nvSpPr>
          <p:cNvPr id="8" name="Rural Class VIII division assessment. This do">
            <a:extLst xmlns:a="http://schemas.openxmlformats.org/drawingml/2006/main">
              <a:ext uri="{FF2B5EF4-FFF2-40B4-BE49-F238E27FC236}">
                <a16:creationId xmlns:a16="http://schemas.microsoft.com/office/drawing/2014/main" id="{27954A85-1237-4C04-AA42-B273524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Rural Class VIII division assessment. This does not measure JEE aspirants.</a:t>
            </a:r>
          </a:p>
        </p:txBody>
      </p:sp>
      <p:sp>
        <p:nvSpPr>
          <p:cNvPr id="9" name="Official ASER national findings">
            <a:extLst xmlns:a="http://schemas.openxmlformats.org/drawingml/2006/main">
              <a:ext uri="{FF2B5EF4-FFF2-40B4-BE49-F238E27FC236}">
                <a16:creationId xmlns:a16="http://schemas.microsoft.com/office/drawing/2014/main" id="{E02C7796-A041-4FAF-A0D8-A026DE23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643e43f5178f45a6"/>
              </a:rPr>
              <a:t>Official ASER national findings</a:t>
            </a:r>
          </a:p>
        </p:txBody>
      </p:sp>
      <p:sp>
        <p:nvSpPr>
          <p:cNvPr id="10" name="Local implementation snapshot  ·  10 October ">
            <a:extLst xmlns:a="http://schemas.openxmlformats.org/drawingml/2006/main">
              <a:ext uri="{FF2B5EF4-FFF2-40B4-BE49-F238E27FC236}">
                <a16:creationId xmlns:a16="http://schemas.microsoft.com/office/drawing/2014/main" id="{E78E1EA3-327C-49A5-A37C-3F8BBA99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Local implementation snapshot  ·  10 October 2026</a:t>
            </a:r>
          </a:p>
        </p:txBody>
      </p:sp>
      <p:sp>
        <p:nvSpPr>
          <p:cNvPr id="11" name="Implementation counts describe scope. Learner">
            <a:extLst xmlns:a="http://schemas.openxmlformats.org/drawingml/2006/main">
              <a:ext uri="{FF2B5EF4-FFF2-40B4-BE49-F238E27FC236}">
                <a16:creationId xmlns:a16="http://schemas.microsoft.com/office/drawing/2014/main" id="{EBFEF63C-02F0-438B-873C-E60F7CC5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Implementation counts describe scope. Learner efficacy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679553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2026-10-10T14:01:48.0840000Z</dcterms:created>
  <dcterms:modified xsi:type="dcterms:W3CDTF">2026-10-10T14:01:48.0840000Z</dcterms:modified>
</coreProperties>
</file>